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9" r:id="rId4"/>
    <p:sldId id="260" r:id="rId5"/>
    <p:sldId id="261" r:id="rId6"/>
    <p:sldId id="267" r:id="rId7"/>
    <p:sldId id="266" r:id="rId8"/>
    <p:sldId id="268" r:id="rId9"/>
    <p:sldId id="269" r:id="rId10"/>
    <p:sldId id="270" r:id="rId11"/>
    <p:sldId id="271"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3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4610"/>
  </p:normalViewPr>
  <p:slideViewPr>
    <p:cSldViewPr snapToGrid="0" snapToObjects="1">
      <p:cViewPr varScale="1">
        <p:scale>
          <a:sx n="114" d="100"/>
          <a:sy n="114" d="100"/>
        </p:scale>
        <p:origin x="12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8709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522462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94555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7" name="Text 5"/>
          <p:cNvSpPr/>
          <p:nvPr/>
        </p:nvSpPr>
        <p:spPr>
          <a:xfrm>
            <a:off x="3056497" y="1671942"/>
            <a:ext cx="3348093" cy="365760"/>
          </a:xfrm>
          <a:prstGeom prst="rect">
            <a:avLst/>
          </a:prstGeom>
          <a:noFill/>
          <a:ln/>
        </p:spPr>
        <p:txBody>
          <a:bodyPr wrap="square" lIns="0" tIns="0" rIns="0" bIns="0" rtlCol="0" anchor="ctr"/>
          <a:lstStyle/>
          <a:p>
            <a:pPr marL="0" indent="0">
              <a:buNone/>
            </a:pPr>
            <a:r>
              <a:rPr lang="en-US" sz="3200" b="1" dirty="0">
                <a:solidFill>
                  <a:srgbClr val="FFFFFF"/>
                </a:solidFill>
                <a:latin typeface="Calibri Bold" pitchFamily="34" charset="0"/>
                <a:ea typeface="Calibri Bold" pitchFamily="34" charset="-122"/>
                <a:cs typeface="Calibri Bold" pitchFamily="34" charset="-120"/>
              </a:rPr>
              <a:t>FormaPro CRM</a:t>
            </a:r>
            <a:endParaRPr lang="en-US" sz="3200" dirty="0"/>
          </a:p>
        </p:txBody>
      </p:sp>
      <p:sp>
        <p:nvSpPr>
          <p:cNvPr id="8" name="Text 6"/>
          <p:cNvSpPr/>
          <p:nvPr/>
        </p:nvSpPr>
        <p:spPr>
          <a:xfrm>
            <a:off x="3389136" y="2125693"/>
            <a:ext cx="2286000" cy="256032"/>
          </a:xfrm>
          <a:prstGeom prst="rect">
            <a:avLst/>
          </a:prstGeom>
          <a:noFill/>
          <a:ln/>
        </p:spPr>
        <p:txBody>
          <a:bodyPr wrap="square" lIns="0" tIns="0" rIns="0" bIns="0" rtlCol="0" anchor="ctr"/>
          <a:lstStyle/>
          <a:p>
            <a:pPr marL="0" indent="0">
              <a:buNone/>
            </a:pPr>
            <a:r>
              <a:rPr lang="en-US" dirty="0">
                <a:solidFill>
                  <a:srgbClr val="D1FAE5"/>
                </a:solidFill>
                <a:latin typeface="Calibri" pitchFamily="34" charset="0"/>
                <a:ea typeface="Calibri" pitchFamily="34" charset="-122"/>
                <a:cs typeface="Calibri" pitchFamily="34" charset="-120"/>
              </a:rPr>
              <a:t>Agence de Formation</a:t>
            </a:r>
            <a:endParaRPr lang="en-US" dirty="0"/>
          </a:p>
        </p:txBody>
      </p:sp>
      <p:sp>
        <p:nvSpPr>
          <p:cNvPr id="9" name="Text 7"/>
          <p:cNvSpPr/>
          <p:nvPr/>
        </p:nvSpPr>
        <p:spPr>
          <a:xfrm>
            <a:off x="4206240" y="1188720"/>
            <a:ext cx="4663440" cy="502920"/>
          </a:xfrm>
          <a:prstGeom prst="rect">
            <a:avLst/>
          </a:prstGeom>
          <a:noFill/>
          <a:ln/>
        </p:spPr>
        <p:txBody>
          <a:bodyPr wrap="square" lIns="0" tIns="0" rIns="0" bIns="0" rtlCol="0" anchor="ctr"/>
          <a:lstStyle/>
          <a:p>
            <a:pPr marL="0" indent="0">
              <a:buNone/>
            </a:pPr>
            <a:endParaRPr lang="en-US" sz="2000" dirty="0"/>
          </a:p>
        </p:txBody>
      </p:sp>
      <p:sp>
        <p:nvSpPr>
          <p:cNvPr id="10" name="Text 8"/>
          <p:cNvSpPr/>
          <p:nvPr/>
        </p:nvSpPr>
        <p:spPr>
          <a:xfrm>
            <a:off x="4206240" y="1645920"/>
            <a:ext cx="4663440" cy="914400"/>
          </a:xfrm>
          <a:prstGeom prst="rect">
            <a:avLst/>
          </a:prstGeom>
          <a:noFill/>
          <a:ln/>
        </p:spPr>
        <p:txBody>
          <a:bodyPr wrap="square" lIns="0" tIns="0" rIns="0" bIns="0" rtlCol="0" anchor="ctr"/>
          <a:lstStyle/>
          <a:p>
            <a:pPr marL="0" indent="0">
              <a:buNone/>
            </a:pPr>
            <a:endParaRPr lang="en-US" sz="5200" dirty="0"/>
          </a:p>
        </p:txBody>
      </p:sp>
      <p:sp>
        <p:nvSpPr>
          <p:cNvPr id="3" name="ZoneTexte 2"/>
          <p:cNvSpPr txBox="1"/>
          <p:nvPr/>
        </p:nvSpPr>
        <p:spPr>
          <a:xfrm>
            <a:off x="3692106" y="4095014"/>
            <a:ext cx="3536830" cy="369332"/>
          </a:xfrm>
          <a:prstGeom prst="rect">
            <a:avLst/>
          </a:prstGeom>
          <a:noFill/>
        </p:spPr>
        <p:txBody>
          <a:bodyPr wrap="square" rtlCol="0">
            <a:spAutoFit/>
          </a:bodyPr>
          <a:lstStyle/>
          <a:p>
            <a:r>
              <a:rPr lang="fr-FR" dirty="0" smtClean="0">
                <a:solidFill>
                  <a:schemeClr val="bg1"/>
                </a:solidFill>
              </a:rPr>
              <a:t>Kenza MENAD</a:t>
            </a:r>
            <a:endParaRPr lang="fr-FR"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59669"/>
          </a:solidFill>
          <a:ln/>
        </p:spPr>
      </p:sp>
      <p:sp>
        <p:nvSpPr>
          <p:cNvPr id="5" name="Text 3"/>
          <p:cNvSpPr/>
          <p:nvPr/>
        </p:nvSpPr>
        <p:spPr>
          <a:xfrm>
            <a:off x="8412480" y="137160"/>
            <a:ext cx="594360" cy="594360"/>
          </a:xfrm>
          <a:prstGeom prst="rect">
            <a:avLst/>
          </a:prstGeom>
          <a:noFill/>
          <a:ln/>
        </p:spPr>
        <p:txBody>
          <a:bodyPr wrap="square" lIns="0" tIns="0" rIns="0" bIns="0" rtlCol="0" anchor="ctr"/>
          <a:lstStyle/>
          <a:p>
            <a:pPr marL="0" indent="0" algn="ctr">
              <a:buNone/>
            </a:pPr>
            <a:endParaRPr lang="en-US" sz="2200" dirty="0"/>
          </a:p>
        </p:txBody>
      </p:sp>
      <p:sp>
        <p:nvSpPr>
          <p:cNvPr id="6" name="Text 4"/>
          <p:cNvSpPr/>
          <p:nvPr/>
        </p:nvSpPr>
        <p:spPr>
          <a:xfrm>
            <a:off x="320040" y="502920"/>
            <a:ext cx="8503920" cy="640080"/>
          </a:xfrm>
          <a:prstGeom prst="rect">
            <a:avLst/>
          </a:prstGeom>
          <a:noFill/>
          <a:ln/>
        </p:spPr>
        <p:txBody>
          <a:bodyPr wrap="square" lIns="0" tIns="0" rIns="0" bIns="0" rtlCol="0" anchor="ctr"/>
          <a:lstStyle/>
          <a:p>
            <a:pPr marL="0" indent="0">
              <a:buNone/>
            </a:pPr>
            <a:r>
              <a:rPr lang="en-US" sz="3000" b="1" dirty="0">
                <a:solidFill>
                  <a:srgbClr val="1E293B"/>
                </a:solidFill>
                <a:latin typeface="Calibri Bold" pitchFamily="34" charset="0"/>
                <a:ea typeface="Calibri Bold" pitchFamily="34" charset="-122"/>
                <a:cs typeface="Calibri Bold" pitchFamily="34" charset="-120"/>
              </a:rPr>
              <a:t>Contexte &amp; Entreprise cible</a:t>
            </a:r>
            <a:endParaRPr lang="en-US" sz="3000" dirty="0"/>
          </a:p>
        </p:txBody>
      </p:sp>
      <p:sp>
        <p:nvSpPr>
          <p:cNvPr id="7" name="Shape 5"/>
          <p:cNvSpPr/>
          <p:nvPr/>
        </p:nvSpPr>
        <p:spPr>
          <a:xfrm>
            <a:off x="378763" y="1280160"/>
            <a:ext cx="6080760" cy="329184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8" name="Text 6"/>
          <p:cNvSpPr/>
          <p:nvPr/>
        </p:nvSpPr>
        <p:spPr>
          <a:xfrm>
            <a:off x="548640" y="1463040"/>
            <a:ext cx="3566160" cy="365760"/>
          </a:xfrm>
          <a:prstGeom prst="rect">
            <a:avLst/>
          </a:prstGeom>
          <a:noFill/>
          <a:ln/>
        </p:spPr>
        <p:txBody>
          <a:bodyPr wrap="square" lIns="0" tIns="0" rIns="0" bIns="0" rtlCol="0" anchor="ctr"/>
          <a:lstStyle/>
          <a:p>
            <a:pPr marL="0" indent="0">
              <a:buNone/>
            </a:pPr>
            <a:r>
              <a:rPr lang="en-US" sz="1300" b="1" dirty="0">
                <a:solidFill>
                  <a:srgbClr val="059669"/>
                </a:solidFill>
                <a:latin typeface="Calibri Bold" pitchFamily="34" charset="0"/>
                <a:ea typeface="Calibri Bold" pitchFamily="34" charset="-122"/>
                <a:cs typeface="Calibri Bold" pitchFamily="34" charset="-120"/>
              </a:rPr>
              <a:t>Le contexte</a:t>
            </a:r>
            <a:endParaRPr lang="en-US" sz="1300" dirty="0"/>
          </a:p>
        </p:txBody>
      </p:sp>
      <p:sp>
        <p:nvSpPr>
          <p:cNvPr id="9" name="Text 7"/>
          <p:cNvSpPr/>
          <p:nvPr/>
        </p:nvSpPr>
        <p:spPr>
          <a:xfrm>
            <a:off x="548639" y="1920240"/>
            <a:ext cx="5231375" cy="2468880"/>
          </a:xfrm>
          <a:prstGeom prst="rect">
            <a:avLst/>
          </a:prstGeom>
          <a:noFill/>
          <a:ln/>
        </p:spPr>
        <p:txBody>
          <a:bodyPr wrap="square" rtlCol="0" anchor="ctr"/>
          <a:lstStyle/>
          <a:p>
            <a:pPr>
              <a:lnSpc>
                <a:spcPct val="130000"/>
              </a:lnSpc>
            </a:pPr>
            <a:r>
              <a:rPr lang="fr-FR" sz="1200" dirty="0" err="1"/>
              <a:t>FormaPro</a:t>
            </a:r>
            <a:r>
              <a:rPr lang="fr-FR" sz="1200" dirty="0"/>
              <a:t> est une agence de formation professionnelle qui accompagne les entreprises dans le développement des compétences de leurs équipes.</a:t>
            </a:r>
            <a:r>
              <a:rPr lang="en-US" sz="1150" dirty="0" smtClean="0">
                <a:solidFill>
                  <a:srgbClr val="1E293B"/>
                </a:solidFill>
                <a:latin typeface="Calibri" pitchFamily="34" charset="0"/>
                <a:ea typeface="Calibri" pitchFamily="34" charset="-122"/>
                <a:cs typeface="Calibri" pitchFamily="34" charset="-120"/>
              </a:rPr>
              <a:t> </a:t>
            </a:r>
          </a:p>
          <a:p>
            <a:pPr>
              <a:lnSpc>
                <a:spcPct val="130000"/>
              </a:lnSpc>
            </a:pPr>
            <a:endParaRPr lang="en-US" sz="1150" dirty="0"/>
          </a:p>
          <a:p>
            <a:pPr>
              <a:lnSpc>
                <a:spcPct val="130000"/>
              </a:lnSpc>
            </a:pPr>
            <a:r>
              <a:rPr lang="en-US" sz="1150" b="1" dirty="0">
                <a:solidFill>
                  <a:srgbClr val="1E293B"/>
                </a:solidFill>
                <a:latin typeface="Calibri" pitchFamily="34" charset="0"/>
                <a:ea typeface="Calibri" pitchFamily="34" charset="-122"/>
                <a:cs typeface="Calibri" pitchFamily="34" charset="-120"/>
              </a:rPr>
              <a:t>Problème : </a:t>
            </a:r>
            <a:r>
              <a:rPr lang="en-US" sz="1150" dirty="0" smtClean="0">
                <a:solidFill>
                  <a:srgbClr val="1E293B"/>
                </a:solidFill>
                <a:latin typeface="Calibri" pitchFamily="34" charset="0"/>
                <a:ea typeface="Calibri" pitchFamily="34" charset="-122"/>
                <a:cs typeface="Calibri" pitchFamily="34" charset="-120"/>
              </a:rPr>
              <a:t>a</a:t>
            </a:r>
            <a:r>
              <a:rPr lang="fr-FR" sz="1200" dirty="0" err="1" smtClean="0"/>
              <a:t>vec</a:t>
            </a:r>
            <a:r>
              <a:rPr lang="fr-FR" sz="1200" dirty="0" smtClean="0"/>
              <a:t> </a:t>
            </a:r>
            <a:r>
              <a:rPr lang="fr-FR" sz="1200" dirty="0"/>
              <a:t>une équipe commerciale qui gère des dizaines de prospects en même temps, il devenait impossible de suivre manuellement chaque client, chaque lead, chaque relance. les communications non tracées, et l'équipe n'avait aucune visibilité globale sur son activité.</a:t>
            </a:r>
            <a:r>
              <a:rPr lang="en-US" sz="1150" dirty="0" smtClean="0">
                <a:solidFill>
                  <a:srgbClr val="1E293B"/>
                </a:solidFill>
                <a:latin typeface="Calibri" pitchFamily="34" charset="0"/>
                <a:ea typeface="Calibri" pitchFamily="34" charset="-122"/>
                <a:cs typeface="Calibri" pitchFamily="34" charset="-120"/>
              </a:rPr>
              <a:t> </a:t>
            </a:r>
          </a:p>
          <a:p>
            <a:pPr>
              <a:lnSpc>
                <a:spcPct val="130000"/>
              </a:lnSpc>
            </a:pPr>
            <a:endParaRPr lang="en-US" sz="1150" dirty="0"/>
          </a:p>
          <a:p>
            <a:pPr marL="0" indent="0">
              <a:lnSpc>
                <a:spcPct val="130000"/>
              </a:lnSpc>
              <a:buNone/>
            </a:pPr>
            <a:r>
              <a:rPr lang="en-US" sz="1150" b="1" dirty="0">
                <a:solidFill>
                  <a:srgbClr val="1E293B"/>
                </a:solidFill>
                <a:latin typeface="Calibri" pitchFamily="34" charset="0"/>
                <a:ea typeface="Calibri" pitchFamily="34" charset="-122"/>
                <a:cs typeface="Calibri" pitchFamily="34" charset="-120"/>
              </a:rPr>
              <a:t>Solution : </a:t>
            </a:r>
            <a:r>
              <a:rPr lang="en-US" sz="1150" dirty="0">
                <a:solidFill>
                  <a:srgbClr val="1E293B"/>
                </a:solidFill>
                <a:latin typeface="Calibri" pitchFamily="34" charset="0"/>
                <a:ea typeface="Calibri" pitchFamily="34" charset="-122"/>
                <a:cs typeface="Calibri" pitchFamily="34" charset="-120"/>
              </a:rPr>
              <a:t>Un CRM web centralisé, moderne, déployé sur le cloud, accessible partout.</a:t>
            </a:r>
            <a:endParaRPr lang="en-US" sz="11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73" name="Shape 42"/>
          <p:cNvSpPr/>
          <p:nvPr/>
        </p:nvSpPr>
        <p:spPr>
          <a:xfrm>
            <a:off x="201168" y="4087368"/>
            <a:ext cx="5303520" cy="914400"/>
          </a:xfrm>
          <a:prstGeom prst="rect">
            <a:avLst/>
          </a:prstGeom>
          <a:solidFill>
            <a:srgbClr val="150E2E"/>
          </a:solidFill>
          <a:ln w="15240">
            <a:solidFill>
              <a:srgbClr val="8B5CF6"/>
            </a:solidFill>
            <a:prstDash val="solid"/>
          </a:ln>
          <a:effectLst>
            <a:outerShdw blurRad="127000" dist="50800" dir="8100000" algn="bl" rotWithShape="0">
              <a:srgbClr val="000000">
                <a:alpha val="25000"/>
              </a:srgbClr>
            </a:outerShdw>
          </a:effectLst>
        </p:spPr>
      </p:sp>
      <p:sp>
        <p:nvSpPr>
          <p:cNvPr id="98" name="Shape 47"/>
          <p:cNvSpPr/>
          <p:nvPr/>
        </p:nvSpPr>
        <p:spPr>
          <a:xfrm>
            <a:off x="2088859" y="4562121"/>
            <a:ext cx="631481" cy="309617"/>
          </a:xfrm>
          <a:prstGeom prst="rect">
            <a:avLst/>
          </a:prstGeom>
          <a:solidFill>
            <a:srgbClr val="1E0F4A"/>
          </a:solidFill>
          <a:ln w="5080">
            <a:solidFill>
              <a:srgbClr val="8B5CF6"/>
            </a:solidFill>
            <a:prstDash val="solid"/>
          </a:ln>
        </p:spPr>
      </p:sp>
      <p:sp>
        <p:nvSpPr>
          <p:cNvPr id="228" name="Text 0"/>
          <p:cNvSpPr/>
          <p:nvPr/>
        </p:nvSpPr>
        <p:spPr>
          <a:xfrm>
            <a:off x="365760" y="109728"/>
            <a:ext cx="640080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Bold" pitchFamily="34" charset="0"/>
                <a:ea typeface="Calibri Bold" pitchFamily="34" charset="-122"/>
                <a:cs typeface="Calibri Bold" pitchFamily="34" charset="-120"/>
              </a:rPr>
              <a:t>Architecture technique</a:t>
            </a:r>
            <a:endParaRPr lang="en-US" sz="2400" dirty="0"/>
          </a:p>
        </p:txBody>
      </p:sp>
      <p:sp>
        <p:nvSpPr>
          <p:cNvPr id="229" name="Text 1"/>
          <p:cNvSpPr/>
          <p:nvPr/>
        </p:nvSpPr>
        <p:spPr>
          <a:xfrm>
            <a:off x="365760" y="530352"/>
            <a:ext cx="6400800" cy="274320"/>
          </a:xfrm>
          <a:prstGeom prst="rect">
            <a:avLst/>
          </a:prstGeom>
          <a:noFill/>
          <a:ln/>
        </p:spPr>
        <p:txBody>
          <a:bodyPr wrap="square" lIns="0" tIns="0" rIns="0" bIns="0" rtlCol="0" anchor="ctr"/>
          <a:lstStyle/>
          <a:p>
            <a:pPr marL="0" indent="0">
              <a:buNone/>
            </a:pPr>
            <a:endParaRPr lang="en-US" sz="1100" dirty="0"/>
          </a:p>
        </p:txBody>
      </p:sp>
      <p:sp>
        <p:nvSpPr>
          <p:cNvPr id="230" name="Shape 2"/>
          <p:cNvSpPr/>
          <p:nvPr/>
        </p:nvSpPr>
        <p:spPr>
          <a:xfrm>
            <a:off x="201168" y="868680"/>
            <a:ext cx="5303520" cy="1261872"/>
          </a:xfrm>
          <a:prstGeom prst="rect">
            <a:avLst/>
          </a:prstGeom>
          <a:solidFill>
            <a:srgbClr val="0D2137"/>
          </a:solidFill>
          <a:ln w="15240">
            <a:solidFill>
              <a:srgbClr val="059669"/>
            </a:solidFill>
            <a:prstDash val="solid"/>
          </a:ln>
          <a:effectLst>
            <a:outerShdw blurRad="127000" dist="50800" dir="8100000" algn="bl" rotWithShape="0">
              <a:srgbClr val="000000">
                <a:alpha val="25000"/>
              </a:srgbClr>
            </a:outerShdw>
          </a:effectLst>
        </p:spPr>
      </p:sp>
      <p:sp>
        <p:nvSpPr>
          <p:cNvPr id="231" name="Shape 3"/>
          <p:cNvSpPr/>
          <p:nvPr/>
        </p:nvSpPr>
        <p:spPr>
          <a:xfrm>
            <a:off x="201168" y="868680"/>
            <a:ext cx="1417320" cy="292608"/>
          </a:xfrm>
          <a:prstGeom prst="rect">
            <a:avLst/>
          </a:prstGeom>
          <a:solidFill>
            <a:srgbClr val="059669"/>
          </a:solidFill>
          <a:ln/>
        </p:spPr>
      </p:sp>
      <p:sp>
        <p:nvSpPr>
          <p:cNvPr id="232" name="Text 4"/>
          <p:cNvSpPr/>
          <p:nvPr/>
        </p:nvSpPr>
        <p:spPr>
          <a:xfrm>
            <a:off x="201168" y="868680"/>
            <a:ext cx="1417320"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Bold" pitchFamily="34" charset="0"/>
                <a:ea typeface="Calibri Bold" pitchFamily="34" charset="-122"/>
                <a:cs typeface="Calibri Bold" pitchFamily="34" charset="-120"/>
              </a:rPr>
              <a:t>FRONTEND</a:t>
            </a:r>
            <a:endParaRPr lang="en-US" sz="800" dirty="0"/>
          </a:p>
        </p:txBody>
      </p:sp>
      <p:pic>
        <p:nvPicPr>
          <p:cNvPr id="233" name="Image 0" descr="preencoded.png"/>
          <p:cNvPicPr>
            <a:picLocks noChangeAspect="1"/>
          </p:cNvPicPr>
          <p:nvPr/>
        </p:nvPicPr>
        <p:blipFill>
          <a:blip r:embed="rId3"/>
          <a:stretch>
            <a:fillRect/>
          </a:stretch>
        </p:blipFill>
        <p:spPr>
          <a:xfrm>
            <a:off x="347472" y="1234440"/>
            <a:ext cx="292608" cy="292608"/>
          </a:xfrm>
          <a:prstGeom prst="rect">
            <a:avLst/>
          </a:prstGeom>
        </p:spPr>
      </p:pic>
      <p:sp>
        <p:nvSpPr>
          <p:cNvPr id="234" name="Text 5"/>
          <p:cNvSpPr/>
          <p:nvPr/>
        </p:nvSpPr>
        <p:spPr>
          <a:xfrm>
            <a:off x="694944" y="1207008"/>
            <a:ext cx="128016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Bold" pitchFamily="34" charset="0"/>
                <a:ea typeface="Calibri Bold" pitchFamily="34" charset="-122"/>
                <a:cs typeface="Calibri Bold" pitchFamily="34" charset="-120"/>
              </a:rPr>
              <a:t>Next.js 14</a:t>
            </a:r>
            <a:endParaRPr lang="en-US" sz="1000" dirty="0"/>
          </a:p>
        </p:txBody>
      </p:sp>
      <p:sp>
        <p:nvSpPr>
          <p:cNvPr id="235" name="Text 6"/>
          <p:cNvSpPr/>
          <p:nvPr/>
        </p:nvSpPr>
        <p:spPr>
          <a:xfrm>
            <a:off x="694944" y="1389888"/>
            <a:ext cx="1371600" cy="164592"/>
          </a:xfrm>
          <a:prstGeom prst="rect">
            <a:avLst/>
          </a:prstGeom>
          <a:noFill/>
          <a:ln/>
        </p:spPr>
        <p:txBody>
          <a:bodyPr wrap="square" lIns="0" tIns="0" rIns="0" bIns="0" rtlCol="0" anchor="ctr"/>
          <a:lstStyle/>
          <a:p>
            <a:pPr marL="0" indent="0">
              <a:buNone/>
            </a:pPr>
            <a:r>
              <a:rPr lang="en-US" sz="1050" b="1" dirty="0">
                <a:solidFill>
                  <a:schemeClr val="bg1"/>
                </a:solidFill>
                <a:latin typeface="Calibri" pitchFamily="34" charset="0"/>
                <a:ea typeface="Calibri" pitchFamily="34" charset="-122"/>
                <a:cs typeface="Calibri" pitchFamily="34" charset="-120"/>
              </a:rPr>
              <a:t>React + TypeScript</a:t>
            </a:r>
            <a:endParaRPr lang="en-US" sz="1050" b="1" dirty="0">
              <a:solidFill>
                <a:schemeClr val="bg1"/>
              </a:solidFill>
            </a:endParaRPr>
          </a:p>
        </p:txBody>
      </p:sp>
      <p:sp>
        <p:nvSpPr>
          <p:cNvPr id="236" name="Shape 7"/>
          <p:cNvSpPr/>
          <p:nvPr/>
        </p:nvSpPr>
        <p:spPr>
          <a:xfrm>
            <a:off x="2148840" y="987552"/>
            <a:ext cx="749808" cy="292608"/>
          </a:xfrm>
          <a:prstGeom prst="rect">
            <a:avLst/>
          </a:prstGeom>
          <a:solidFill>
            <a:srgbClr val="1E3A5F"/>
          </a:solidFill>
          <a:ln/>
        </p:spPr>
      </p:sp>
      <p:sp>
        <p:nvSpPr>
          <p:cNvPr id="237" name="Text 8"/>
          <p:cNvSpPr/>
          <p:nvPr/>
        </p:nvSpPr>
        <p:spPr>
          <a:xfrm>
            <a:off x="2148840" y="987552"/>
            <a:ext cx="749808" cy="292608"/>
          </a:xfrm>
          <a:prstGeom prst="rect">
            <a:avLst/>
          </a:prstGeom>
          <a:noFill/>
          <a:ln/>
        </p:spPr>
        <p:txBody>
          <a:bodyPr wrap="square" lIns="0" tIns="0" rIns="0" bIns="0" rtlCol="0" anchor="ctr"/>
          <a:lstStyle/>
          <a:p>
            <a:pPr marL="0" indent="0" algn="ctr">
              <a:buNone/>
            </a:pPr>
            <a:r>
              <a:rPr lang="en-US" sz="1050" dirty="0">
                <a:solidFill>
                  <a:schemeClr val="bg1"/>
                </a:solidFill>
                <a:latin typeface="Calibri" pitchFamily="34" charset="0"/>
                <a:ea typeface="Calibri" pitchFamily="34" charset="-122"/>
                <a:cs typeface="Calibri" pitchFamily="34" charset="-120"/>
              </a:rPr>
              <a:t>Dashboard</a:t>
            </a:r>
            <a:endParaRPr lang="en-US" sz="1050" dirty="0">
              <a:solidFill>
                <a:schemeClr val="bg1"/>
              </a:solidFill>
            </a:endParaRPr>
          </a:p>
        </p:txBody>
      </p:sp>
      <p:sp>
        <p:nvSpPr>
          <p:cNvPr id="238" name="Shape 9"/>
          <p:cNvSpPr/>
          <p:nvPr/>
        </p:nvSpPr>
        <p:spPr>
          <a:xfrm>
            <a:off x="2953512" y="987552"/>
            <a:ext cx="749808" cy="292608"/>
          </a:xfrm>
          <a:prstGeom prst="rect">
            <a:avLst/>
          </a:prstGeom>
          <a:solidFill>
            <a:srgbClr val="1E3A5F"/>
          </a:solidFill>
          <a:ln/>
        </p:spPr>
      </p:sp>
      <p:sp>
        <p:nvSpPr>
          <p:cNvPr id="239" name="Text 10"/>
          <p:cNvSpPr/>
          <p:nvPr/>
        </p:nvSpPr>
        <p:spPr>
          <a:xfrm>
            <a:off x="2953512" y="987552"/>
            <a:ext cx="749808" cy="292608"/>
          </a:xfrm>
          <a:prstGeom prst="rect">
            <a:avLst/>
          </a:prstGeom>
          <a:noFill/>
          <a:ln/>
        </p:spPr>
        <p:txBody>
          <a:bodyPr wrap="square" lIns="0" tIns="0" rIns="0" bIns="0" rtlCol="0" anchor="ctr"/>
          <a:lstStyle/>
          <a:p>
            <a:pPr marL="0" indent="0" algn="ctr">
              <a:buNone/>
            </a:pPr>
            <a:r>
              <a:rPr lang="en-US" sz="1050" dirty="0">
                <a:solidFill>
                  <a:schemeClr val="bg1"/>
                </a:solidFill>
                <a:latin typeface="Calibri" pitchFamily="34" charset="0"/>
                <a:ea typeface="Calibri" pitchFamily="34" charset="-122"/>
                <a:cs typeface="Calibri" pitchFamily="34" charset="-120"/>
              </a:rPr>
              <a:t>Contacts</a:t>
            </a:r>
            <a:endParaRPr lang="en-US" sz="1050" dirty="0">
              <a:solidFill>
                <a:schemeClr val="bg1"/>
              </a:solidFill>
            </a:endParaRPr>
          </a:p>
        </p:txBody>
      </p:sp>
      <p:sp>
        <p:nvSpPr>
          <p:cNvPr id="240" name="Shape 11"/>
          <p:cNvSpPr/>
          <p:nvPr/>
        </p:nvSpPr>
        <p:spPr>
          <a:xfrm>
            <a:off x="3758184" y="987552"/>
            <a:ext cx="749808" cy="292608"/>
          </a:xfrm>
          <a:prstGeom prst="rect">
            <a:avLst/>
          </a:prstGeom>
          <a:solidFill>
            <a:srgbClr val="1E3A5F"/>
          </a:solidFill>
          <a:ln/>
        </p:spPr>
      </p:sp>
      <p:sp>
        <p:nvSpPr>
          <p:cNvPr id="241" name="Text 12"/>
          <p:cNvSpPr/>
          <p:nvPr/>
        </p:nvSpPr>
        <p:spPr>
          <a:xfrm>
            <a:off x="3758184" y="987552"/>
            <a:ext cx="749808" cy="292608"/>
          </a:xfrm>
          <a:prstGeom prst="rect">
            <a:avLst/>
          </a:prstGeom>
          <a:noFill/>
          <a:ln/>
        </p:spPr>
        <p:txBody>
          <a:bodyPr wrap="square" lIns="0" tIns="0" rIns="0" bIns="0" rtlCol="0" anchor="ctr"/>
          <a:lstStyle/>
          <a:p>
            <a:pPr marL="0" indent="0" algn="ctr">
              <a:buNone/>
            </a:pPr>
            <a:r>
              <a:rPr lang="en-US" sz="1050" dirty="0">
                <a:solidFill>
                  <a:schemeClr val="bg1"/>
                </a:solidFill>
                <a:latin typeface="Calibri" pitchFamily="34" charset="0"/>
                <a:ea typeface="Calibri" pitchFamily="34" charset="-122"/>
                <a:cs typeface="Calibri" pitchFamily="34" charset="-120"/>
              </a:rPr>
              <a:t>Leads</a:t>
            </a:r>
            <a:endParaRPr lang="en-US" sz="1050" dirty="0">
              <a:solidFill>
                <a:schemeClr val="bg1"/>
              </a:solidFill>
            </a:endParaRPr>
          </a:p>
        </p:txBody>
      </p:sp>
      <p:sp>
        <p:nvSpPr>
          <p:cNvPr id="242" name="Shape 13"/>
          <p:cNvSpPr/>
          <p:nvPr/>
        </p:nvSpPr>
        <p:spPr>
          <a:xfrm>
            <a:off x="4562856" y="987552"/>
            <a:ext cx="749808" cy="292608"/>
          </a:xfrm>
          <a:prstGeom prst="rect">
            <a:avLst/>
          </a:prstGeom>
          <a:solidFill>
            <a:srgbClr val="1E3A5F"/>
          </a:solidFill>
          <a:ln/>
        </p:spPr>
      </p:sp>
      <p:sp>
        <p:nvSpPr>
          <p:cNvPr id="243" name="Text 14"/>
          <p:cNvSpPr/>
          <p:nvPr/>
        </p:nvSpPr>
        <p:spPr>
          <a:xfrm>
            <a:off x="4562856" y="987552"/>
            <a:ext cx="749808" cy="292608"/>
          </a:xfrm>
          <a:prstGeom prst="rect">
            <a:avLst/>
          </a:prstGeom>
          <a:noFill/>
          <a:ln/>
        </p:spPr>
        <p:txBody>
          <a:bodyPr wrap="square" lIns="0" tIns="0" rIns="0" bIns="0" rtlCol="0" anchor="ctr"/>
          <a:lstStyle/>
          <a:p>
            <a:pPr marL="0" indent="0" algn="ctr">
              <a:buNone/>
            </a:pPr>
            <a:r>
              <a:rPr lang="en-US" sz="1050" dirty="0">
                <a:solidFill>
                  <a:schemeClr val="bg1"/>
                </a:solidFill>
                <a:latin typeface="Calibri" pitchFamily="34" charset="0"/>
                <a:ea typeface="Calibri" pitchFamily="34" charset="-122"/>
                <a:cs typeface="Calibri" pitchFamily="34" charset="-120"/>
              </a:rPr>
              <a:t>Pipeline</a:t>
            </a:r>
            <a:endParaRPr lang="en-US" sz="1050" dirty="0">
              <a:solidFill>
                <a:schemeClr val="bg1"/>
              </a:solidFill>
            </a:endParaRPr>
          </a:p>
        </p:txBody>
      </p:sp>
      <p:sp>
        <p:nvSpPr>
          <p:cNvPr id="244" name="Shape 15"/>
          <p:cNvSpPr/>
          <p:nvPr/>
        </p:nvSpPr>
        <p:spPr>
          <a:xfrm>
            <a:off x="2148840" y="1399032"/>
            <a:ext cx="749808" cy="292608"/>
          </a:xfrm>
          <a:prstGeom prst="rect">
            <a:avLst/>
          </a:prstGeom>
          <a:solidFill>
            <a:srgbClr val="1E3A5F"/>
          </a:solidFill>
          <a:ln/>
        </p:spPr>
      </p:sp>
      <p:sp>
        <p:nvSpPr>
          <p:cNvPr id="245" name="Text 16"/>
          <p:cNvSpPr/>
          <p:nvPr/>
        </p:nvSpPr>
        <p:spPr>
          <a:xfrm>
            <a:off x="2148840" y="1399032"/>
            <a:ext cx="749808" cy="292608"/>
          </a:xfrm>
          <a:prstGeom prst="rect">
            <a:avLst/>
          </a:prstGeom>
          <a:noFill/>
          <a:ln/>
        </p:spPr>
        <p:txBody>
          <a:bodyPr wrap="square" lIns="0" tIns="0" rIns="0" bIns="0" rtlCol="0" anchor="ctr"/>
          <a:lstStyle/>
          <a:p>
            <a:pPr marL="0" indent="0" algn="ctr">
              <a:buNone/>
            </a:pPr>
            <a:r>
              <a:rPr lang="en-US" sz="1050" dirty="0">
                <a:solidFill>
                  <a:schemeClr val="bg1"/>
                </a:solidFill>
                <a:latin typeface="Calibri" pitchFamily="34" charset="0"/>
                <a:ea typeface="Calibri" pitchFamily="34" charset="-122"/>
                <a:cs typeface="Calibri" pitchFamily="34" charset="-120"/>
              </a:rPr>
              <a:t>Tâches</a:t>
            </a:r>
            <a:endParaRPr lang="en-US" sz="1050" dirty="0">
              <a:solidFill>
                <a:schemeClr val="bg1"/>
              </a:solidFill>
            </a:endParaRPr>
          </a:p>
        </p:txBody>
      </p:sp>
      <p:sp>
        <p:nvSpPr>
          <p:cNvPr id="246" name="Shape 17"/>
          <p:cNvSpPr/>
          <p:nvPr/>
        </p:nvSpPr>
        <p:spPr>
          <a:xfrm>
            <a:off x="2953512" y="1399032"/>
            <a:ext cx="749808" cy="292608"/>
          </a:xfrm>
          <a:prstGeom prst="rect">
            <a:avLst/>
          </a:prstGeom>
          <a:solidFill>
            <a:srgbClr val="1E3A5F"/>
          </a:solidFill>
          <a:ln/>
        </p:spPr>
      </p:sp>
      <p:sp>
        <p:nvSpPr>
          <p:cNvPr id="247" name="Text 18"/>
          <p:cNvSpPr/>
          <p:nvPr/>
        </p:nvSpPr>
        <p:spPr>
          <a:xfrm>
            <a:off x="2953512" y="1399032"/>
            <a:ext cx="749808" cy="292608"/>
          </a:xfrm>
          <a:prstGeom prst="rect">
            <a:avLst/>
          </a:prstGeom>
          <a:noFill/>
          <a:ln/>
        </p:spPr>
        <p:txBody>
          <a:bodyPr wrap="square" lIns="0" tIns="0" rIns="0" bIns="0" rtlCol="0" anchor="ctr"/>
          <a:lstStyle/>
          <a:p>
            <a:pPr marL="0" indent="0" algn="ctr">
              <a:buNone/>
            </a:pPr>
            <a:r>
              <a:rPr lang="en-US" sz="1050" dirty="0">
                <a:solidFill>
                  <a:schemeClr val="bg1"/>
                </a:solidFill>
                <a:latin typeface="Calibri" pitchFamily="34" charset="0"/>
                <a:ea typeface="Calibri" pitchFamily="34" charset="-122"/>
                <a:cs typeface="Calibri" pitchFamily="34" charset="-120"/>
              </a:rPr>
              <a:t>Emails</a:t>
            </a:r>
            <a:endParaRPr lang="en-US" sz="1050" dirty="0">
              <a:solidFill>
                <a:schemeClr val="bg1"/>
              </a:solidFill>
            </a:endParaRPr>
          </a:p>
        </p:txBody>
      </p:sp>
      <p:sp>
        <p:nvSpPr>
          <p:cNvPr id="248" name="Shape 19"/>
          <p:cNvSpPr/>
          <p:nvPr/>
        </p:nvSpPr>
        <p:spPr>
          <a:xfrm>
            <a:off x="3758184" y="1399032"/>
            <a:ext cx="749808" cy="292608"/>
          </a:xfrm>
          <a:prstGeom prst="rect">
            <a:avLst/>
          </a:prstGeom>
          <a:solidFill>
            <a:srgbClr val="1E3A5F"/>
          </a:solidFill>
          <a:ln/>
        </p:spPr>
      </p:sp>
      <p:sp>
        <p:nvSpPr>
          <p:cNvPr id="249" name="Text 20"/>
          <p:cNvSpPr/>
          <p:nvPr/>
        </p:nvSpPr>
        <p:spPr>
          <a:xfrm>
            <a:off x="3758184" y="1399032"/>
            <a:ext cx="749808" cy="292608"/>
          </a:xfrm>
          <a:prstGeom prst="rect">
            <a:avLst/>
          </a:prstGeom>
          <a:noFill/>
          <a:ln/>
        </p:spPr>
        <p:txBody>
          <a:bodyPr wrap="square" lIns="0" tIns="0" rIns="0" bIns="0" rtlCol="0" anchor="ctr"/>
          <a:lstStyle/>
          <a:p>
            <a:pPr marL="0" indent="0" algn="ctr">
              <a:buNone/>
            </a:pPr>
            <a:r>
              <a:rPr lang="en-US" sz="1050" dirty="0">
                <a:solidFill>
                  <a:schemeClr val="bg1"/>
                </a:solidFill>
                <a:latin typeface="Calibri" pitchFamily="34" charset="0"/>
                <a:ea typeface="Calibri" pitchFamily="34" charset="-122"/>
                <a:cs typeface="Calibri" pitchFamily="34" charset="-120"/>
              </a:rPr>
              <a:t>Entreprises</a:t>
            </a:r>
            <a:endParaRPr lang="en-US" sz="1050" dirty="0">
              <a:solidFill>
                <a:schemeClr val="bg1"/>
              </a:solidFill>
            </a:endParaRPr>
          </a:p>
        </p:txBody>
      </p:sp>
      <p:sp>
        <p:nvSpPr>
          <p:cNvPr id="250" name="Shape 21"/>
          <p:cNvSpPr/>
          <p:nvPr/>
        </p:nvSpPr>
        <p:spPr>
          <a:xfrm>
            <a:off x="4562856" y="1399032"/>
            <a:ext cx="749808" cy="292608"/>
          </a:xfrm>
          <a:prstGeom prst="rect">
            <a:avLst/>
          </a:prstGeom>
          <a:solidFill>
            <a:srgbClr val="1E3A5F"/>
          </a:solidFill>
          <a:ln/>
        </p:spPr>
      </p:sp>
      <p:sp>
        <p:nvSpPr>
          <p:cNvPr id="251" name="Text 22"/>
          <p:cNvSpPr/>
          <p:nvPr/>
        </p:nvSpPr>
        <p:spPr>
          <a:xfrm>
            <a:off x="4562856" y="1399032"/>
            <a:ext cx="749808" cy="292608"/>
          </a:xfrm>
          <a:prstGeom prst="rect">
            <a:avLst/>
          </a:prstGeom>
          <a:noFill/>
          <a:ln/>
        </p:spPr>
        <p:txBody>
          <a:bodyPr wrap="square" lIns="0" tIns="0" rIns="0" bIns="0" rtlCol="0" anchor="ctr"/>
          <a:lstStyle/>
          <a:p>
            <a:pPr marL="0" indent="0" algn="ctr">
              <a:buNone/>
            </a:pPr>
            <a:r>
              <a:rPr lang="en-US" sz="1050" dirty="0">
                <a:solidFill>
                  <a:schemeClr val="bg1"/>
                </a:solidFill>
                <a:latin typeface="Calibri" pitchFamily="34" charset="0"/>
                <a:ea typeface="Calibri" pitchFamily="34" charset="-122"/>
                <a:cs typeface="Calibri" pitchFamily="34" charset="-120"/>
              </a:rPr>
              <a:t>Utilisateurs</a:t>
            </a:r>
            <a:endParaRPr lang="en-US" sz="1050" dirty="0">
              <a:solidFill>
                <a:schemeClr val="bg1"/>
              </a:solidFill>
            </a:endParaRPr>
          </a:p>
        </p:txBody>
      </p:sp>
      <p:sp>
        <p:nvSpPr>
          <p:cNvPr id="252" name="Shape 23"/>
          <p:cNvSpPr/>
          <p:nvPr/>
        </p:nvSpPr>
        <p:spPr>
          <a:xfrm>
            <a:off x="2560320" y="2130552"/>
            <a:ext cx="36576" cy="274320"/>
          </a:xfrm>
          <a:prstGeom prst="rect">
            <a:avLst/>
          </a:prstGeom>
          <a:solidFill>
            <a:srgbClr val="64748B"/>
          </a:solidFill>
          <a:ln/>
        </p:spPr>
      </p:sp>
      <p:sp>
        <p:nvSpPr>
          <p:cNvPr id="253" name="Text 24"/>
          <p:cNvSpPr/>
          <p:nvPr/>
        </p:nvSpPr>
        <p:spPr>
          <a:xfrm>
            <a:off x="2423160" y="2313432"/>
            <a:ext cx="320040" cy="201168"/>
          </a:xfrm>
          <a:prstGeom prst="rect">
            <a:avLst/>
          </a:prstGeom>
          <a:noFill/>
          <a:ln/>
        </p:spPr>
        <p:txBody>
          <a:bodyPr wrap="square" lIns="0" tIns="0" rIns="0" bIns="0" rtlCol="0" anchor="ctr"/>
          <a:lstStyle/>
          <a:p>
            <a:pPr marL="0" indent="0" algn="ctr">
              <a:buNone/>
            </a:pPr>
            <a:r>
              <a:rPr lang="en-US" sz="1000" dirty="0">
                <a:solidFill>
                  <a:srgbClr val="64748B"/>
                </a:solidFill>
              </a:rPr>
              <a:t>▼</a:t>
            </a:r>
            <a:endParaRPr lang="en-US" sz="1000" dirty="0"/>
          </a:p>
        </p:txBody>
      </p:sp>
      <p:sp>
        <p:nvSpPr>
          <p:cNvPr id="254" name="Shape 25"/>
          <p:cNvSpPr/>
          <p:nvPr/>
        </p:nvSpPr>
        <p:spPr>
          <a:xfrm>
            <a:off x="822960" y="2231136"/>
            <a:ext cx="3657600" cy="201168"/>
          </a:xfrm>
          <a:prstGeom prst="rect">
            <a:avLst/>
          </a:prstGeom>
          <a:solidFill>
            <a:srgbClr val="0D2137"/>
          </a:solidFill>
          <a:ln w="7620">
            <a:solidFill>
              <a:srgbClr val="334155"/>
            </a:solidFill>
            <a:prstDash val="solid"/>
          </a:ln>
        </p:spPr>
      </p:sp>
      <p:sp>
        <p:nvSpPr>
          <p:cNvPr id="255" name="Text 26"/>
          <p:cNvSpPr/>
          <p:nvPr/>
        </p:nvSpPr>
        <p:spPr>
          <a:xfrm>
            <a:off x="822960" y="2231136"/>
            <a:ext cx="3657600" cy="201168"/>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HTTP/S + Bearer JWT</a:t>
            </a:r>
            <a:endParaRPr lang="en-US" sz="800" dirty="0"/>
          </a:p>
        </p:txBody>
      </p:sp>
      <p:pic>
        <p:nvPicPr>
          <p:cNvPr id="256" name="Image 1" descr="preencoded.png"/>
          <p:cNvPicPr>
            <a:picLocks noChangeAspect="1"/>
          </p:cNvPicPr>
          <p:nvPr/>
        </p:nvPicPr>
        <p:blipFill>
          <a:blip r:embed="rId4"/>
          <a:stretch>
            <a:fillRect/>
          </a:stretch>
        </p:blipFill>
        <p:spPr>
          <a:xfrm>
            <a:off x="1938528" y="2249424"/>
            <a:ext cx="146304" cy="146304"/>
          </a:xfrm>
          <a:prstGeom prst="rect">
            <a:avLst/>
          </a:prstGeom>
        </p:spPr>
      </p:pic>
      <p:sp>
        <p:nvSpPr>
          <p:cNvPr id="257" name="Shape 27"/>
          <p:cNvSpPr/>
          <p:nvPr/>
        </p:nvSpPr>
        <p:spPr>
          <a:xfrm>
            <a:off x="201168" y="2487168"/>
            <a:ext cx="5303520" cy="1261872"/>
          </a:xfrm>
          <a:prstGeom prst="rect">
            <a:avLst/>
          </a:prstGeom>
          <a:solidFill>
            <a:srgbClr val="0D1B3E"/>
          </a:solidFill>
          <a:ln w="15240">
            <a:solidFill>
              <a:srgbClr val="3B82F6"/>
            </a:solidFill>
            <a:prstDash val="solid"/>
          </a:ln>
          <a:effectLst>
            <a:outerShdw blurRad="127000" dist="50800" dir="8100000" algn="bl" rotWithShape="0">
              <a:srgbClr val="000000">
                <a:alpha val="25000"/>
              </a:srgbClr>
            </a:outerShdw>
          </a:effectLst>
        </p:spPr>
      </p:sp>
      <p:sp>
        <p:nvSpPr>
          <p:cNvPr id="258" name="Shape 28"/>
          <p:cNvSpPr/>
          <p:nvPr/>
        </p:nvSpPr>
        <p:spPr>
          <a:xfrm>
            <a:off x="201168" y="2487168"/>
            <a:ext cx="1417320" cy="292608"/>
          </a:xfrm>
          <a:prstGeom prst="rect">
            <a:avLst/>
          </a:prstGeom>
          <a:solidFill>
            <a:srgbClr val="3B82F6"/>
          </a:solidFill>
          <a:ln/>
        </p:spPr>
      </p:sp>
      <p:sp>
        <p:nvSpPr>
          <p:cNvPr id="259" name="Text 29"/>
          <p:cNvSpPr/>
          <p:nvPr/>
        </p:nvSpPr>
        <p:spPr>
          <a:xfrm>
            <a:off x="201168" y="2487168"/>
            <a:ext cx="1417320"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Bold" pitchFamily="34" charset="0"/>
                <a:ea typeface="Calibri Bold" pitchFamily="34" charset="-122"/>
                <a:cs typeface="Calibri Bold" pitchFamily="34" charset="-120"/>
              </a:rPr>
              <a:t>BACKEND</a:t>
            </a:r>
            <a:endParaRPr lang="en-US" sz="800" dirty="0"/>
          </a:p>
        </p:txBody>
      </p:sp>
      <p:pic>
        <p:nvPicPr>
          <p:cNvPr id="260" name="Image 2" descr="preencoded.png"/>
          <p:cNvPicPr>
            <a:picLocks noChangeAspect="1"/>
          </p:cNvPicPr>
          <p:nvPr/>
        </p:nvPicPr>
        <p:blipFill>
          <a:blip r:embed="rId5"/>
          <a:stretch>
            <a:fillRect/>
          </a:stretch>
        </p:blipFill>
        <p:spPr>
          <a:xfrm>
            <a:off x="347472" y="2852928"/>
            <a:ext cx="292608" cy="292608"/>
          </a:xfrm>
          <a:prstGeom prst="rect">
            <a:avLst/>
          </a:prstGeom>
        </p:spPr>
      </p:pic>
      <p:sp>
        <p:nvSpPr>
          <p:cNvPr id="261" name="Text 30"/>
          <p:cNvSpPr/>
          <p:nvPr/>
        </p:nvSpPr>
        <p:spPr>
          <a:xfrm>
            <a:off x="694944" y="2825496"/>
            <a:ext cx="137160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Bold" pitchFamily="34" charset="0"/>
                <a:ea typeface="Calibri Bold" pitchFamily="34" charset="-122"/>
                <a:cs typeface="Calibri Bold" pitchFamily="34" charset="-120"/>
              </a:rPr>
              <a:t>Node.js + Express</a:t>
            </a:r>
            <a:endParaRPr lang="en-US" sz="1000" dirty="0"/>
          </a:p>
        </p:txBody>
      </p:sp>
      <p:sp>
        <p:nvSpPr>
          <p:cNvPr id="262" name="Text 31"/>
          <p:cNvSpPr/>
          <p:nvPr/>
        </p:nvSpPr>
        <p:spPr>
          <a:xfrm>
            <a:off x="694944" y="3008376"/>
            <a:ext cx="1371600" cy="164592"/>
          </a:xfrm>
          <a:prstGeom prst="rect">
            <a:avLst/>
          </a:prstGeom>
          <a:noFill/>
          <a:ln/>
        </p:spPr>
        <p:txBody>
          <a:bodyPr wrap="square" lIns="0" tIns="0" rIns="0" bIns="0" rtlCol="0" anchor="ctr"/>
          <a:lstStyle/>
          <a:p>
            <a:pPr marL="0" indent="0">
              <a:buNone/>
            </a:pPr>
            <a:endParaRPr lang="en-US" sz="1050" dirty="0"/>
          </a:p>
        </p:txBody>
      </p:sp>
      <p:sp>
        <p:nvSpPr>
          <p:cNvPr id="263" name="Shape 32"/>
          <p:cNvSpPr/>
          <p:nvPr/>
        </p:nvSpPr>
        <p:spPr>
          <a:xfrm>
            <a:off x="2148840" y="2633472"/>
            <a:ext cx="1234440" cy="475488"/>
          </a:xfrm>
          <a:prstGeom prst="rect">
            <a:avLst/>
          </a:prstGeom>
          <a:solidFill>
            <a:srgbClr val="1E2D5A"/>
          </a:solidFill>
          <a:ln w="6350">
            <a:solidFill>
              <a:srgbClr val="3B82F6"/>
            </a:solidFill>
            <a:prstDash val="solid"/>
          </a:ln>
        </p:spPr>
      </p:sp>
      <p:sp>
        <p:nvSpPr>
          <p:cNvPr id="264" name="Text 33"/>
          <p:cNvSpPr/>
          <p:nvPr/>
        </p:nvSpPr>
        <p:spPr>
          <a:xfrm>
            <a:off x="2148840" y="2633472"/>
            <a:ext cx="1234440" cy="256032"/>
          </a:xfrm>
          <a:prstGeom prst="rect">
            <a:avLst/>
          </a:prstGeom>
          <a:noFill/>
          <a:ln/>
        </p:spPr>
        <p:txBody>
          <a:bodyPr wrap="square" lIns="0" tIns="0" rIns="0" bIns="0" rtlCol="0" anchor="ctr"/>
          <a:lstStyle/>
          <a:p>
            <a:pPr marL="0" indent="0" algn="ctr">
              <a:buNone/>
            </a:pPr>
            <a:r>
              <a:rPr lang="en-US" sz="1050" b="1" dirty="0">
                <a:solidFill>
                  <a:srgbClr val="3B82F6"/>
                </a:solidFill>
                <a:latin typeface="Calibri Bold" pitchFamily="34" charset="0"/>
                <a:ea typeface="Calibri Bold" pitchFamily="34" charset="-122"/>
                <a:cs typeface="Calibri Bold" pitchFamily="34" charset="-120"/>
              </a:rPr>
              <a:t>requireAuth</a:t>
            </a:r>
            <a:r>
              <a:rPr lang="en-US" sz="750" b="1" dirty="0">
                <a:solidFill>
                  <a:srgbClr val="3B82F6"/>
                </a:solidFill>
                <a:latin typeface="Calibri Bold" pitchFamily="34" charset="0"/>
                <a:ea typeface="Calibri Bold" pitchFamily="34" charset="-122"/>
                <a:cs typeface="Calibri Bold" pitchFamily="34" charset="-120"/>
              </a:rPr>
              <a:t>()</a:t>
            </a:r>
            <a:endParaRPr lang="en-US" sz="750" dirty="0"/>
          </a:p>
        </p:txBody>
      </p:sp>
      <p:sp>
        <p:nvSpPr>
          <p:cNvPr id="265" name="Text 34"/>
          <p:cNvSpPr/>
          <p:nvPr/>
        </p:nvSpPr>
        <p:spPr>
          <a:xfrm>
            <a:off x="2148840" y="2871216"/>
            <a:ext cx="1234440" cy="219456"/>
          </a:xfrm>
          <a:prstGeom prst="rect">
            <a:avLst/>
          </a:prstGeom>
          <a:noFill/>
          <a:ln/>
        </p:spPr>
        <p:txBody>
          <a:bodyPr wrap="square" lIns="0" tIns="0" rIns="0" bIns="0"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Vérifie JWT</a:t>
            </a:r>
            <a:endParaRPr lang="en-US" sz="1050" dirty="0"/>
          </a:p>
        </p:txBody>
      </p:sp>
      <p:sp>
        <p:nvSpPr>
          <p:cNvPr id="266" name="Shape 35"/>
          <p:cNvSpPr/>
          <p:nvPr/>
        </p:nvSpPr>
        <p:spPr>
          <a:xfrm>
            <a:off x="3502152" y="2633472"/>
            <a:ext cx="1234440" cy="475488"/>
          </a:xfrm>
          <a:prstGeom prst="rect">
            <a:avLst/>
          </a:prstGeom>
          <a:solidFill>
            <a:srgbClr val="1E2D5A"/>
          </a:solidFill>
          <a:ln w="6350">
            <a:solidFill>
              <a:srgbClr val="3B82F6"/>
            </a:solidFill>
            <a:prstDash val="solid"/>
          </a:ln>
        </p:spPr>
      </p:sp>
      <p:sp>
        <p:nvSpPr>
          <p:cNvPr id="267" name="Text 36"/>
          <p:cNvSpPr/>
          <p:nvPr/>
        </p:nvSpPr>
        <p:spPr>
          <a:xfrm>
            <a:off x="3502152" y="2633472"/>
            <a:ext cx="1234440" cy="256032"/>
          </a:xfrm>
          <a:prstGeom prst="rect">
            <a:avLst/>
          </a:prstGeom>
          <a:noFill/>
          <a:ln/>
        </p:spPr>
        <p:txBody>
          <a:bodyPr wrap="square" lIns="0" tIns="0" rIns="0" bIns="0" rtlCol="0" anchor="ctr"/>
          <a:lstStyle/>
          <a:p>
            <a:pPr marL="0" indent="0" algn="ctr">
              <a:buNone/>
            </a:pPr>
            <a:r>
              <a:rPr lang="en-US" sz="1050" b="1" dirty="0">
                <a:solidFill>
                  <a:srgbClr val="3B82F6"/>
                </a:solidFill>
                <a:latin typeface="Calibri Bold" pitchFamily="34" charset="0"/>
                <a:ea typeface="Calibri Bold" pitchFamily="34" charset="-122"/>
                <a:cs typeface="Calibri Bold" pitchFamily="34" charset="-120"/>
              </a:rPr>
              <a:t>requireAdmin()</a:t>
            </a:r>
            <a:endParaRPr lang="en-US" sz="1050" dirty="0"/>
          </a:p>
        </p:txBody>
      </p:sp>
      <p:sp>
        <p:nvSpPr>
          <p:cNvPr id="268" name="Text 37"/>
          <p:cNvSpPr/>
          <p:nvPr/>
        </p:nvSpPr>
        <p:spPr>
          <a:xfrm>
            <a:off x="3502152" y="2871216"/>
            <a:ext cx="1234440" cy="219456"/>
          </a:xfrm>
          <a:prstGeom prst="rect">
            <a:avLst/>
          </a:prstGeom>
          <a:noFill/>
          <a:ln/>
        </p:spPr>
        <p:txBody>
          <a:bodyPr wrap="square" lIns="0" tIns="0" rIns="0" bIns="0" rtlCol="0" anchor="ctr"/>
          <a:lstStyle/>
          <a:p>
            <a:pPr marL="0" indent="0" algn="ctr">
              <a:buNone/>
            </a:pPr>
            <a:r>
              <a:rPr lang="en-US" sz="1050" dirty="0" err="1" smtClean="0">
                <a:solidFill>
                  <a:srgbClr val="64748B"/>
                </a:solidFill>
                <a:latin typeface="Calibri" pitchFamily="34" charset="0"/>
                <a:ea typeface="Calibri" pitchFamily="34" charset="-122"/>
                <a:cs typeface="Calibri" pitchFamily="34" charset="-120"/>
              </a:rPr>
              <a:t>Rôle</a:t>
            </a:r>
            <a:r>
              <a:rPr lang="en-US" sz="1050" dirty="0" smtClean="0">
                <a:solidFill>
                  <a:srgbClr val="64748B"/>
                </a:solidFill>
                <a:latin typeface="Calibri" pitchFamily="34" charset="0"/>
                <a:ea typeface="Calibri" pitchFamily="34" charset="-122"/>
                <a:cs typeface="Calibri" pitchFamily="34" charset="-120"/>
              </a:rPr>
              <a:t> admin</a:t>
            </a:r>
            <a:endParaRPr lang="en-US" sz="1050" dirty="0"/>
          </a:p>
        </p:txBody>
      </p:sp>
      <p:sp>
        <p:nvSpPr>
          <p:cNvPr id="269" name="Shape 38"/>
          <p:cNvSpPr/>
          <p:nvPr/>
        </p:nvSpPr>
        <p:spPr>
          <a:xfrm>
            <a:off x="2148840" y="3200400"/>
            <a:ext cx="3246120" cy="420624"/>
          </a:xfrm>
          <a:prstGeom prst="rect">
            <a:avLst/>
          </a:prstGeom>
          <a:solidFill>
            <a:srgbClr val="131E3A"/>
          </a:solidFill>
          <a:ln w="6350">
            <a:solidFill>
              <a:srgbClr val="334155"/>
            </a:solidFill>
            <a:prstDash val="solid"/>
          </a:ln>
        </p:spPr>
      </p:sp>
      <p:sp>
        <p:nvSpPr>
          <p:cNvPr id="270" name="Text 39"/>
          <p:cNvSpPr/>
          <p:nvPr/>
        </p:nvSpPr>
        <p:spPr>
          <a:xfrm>
            <a:off x="2194560" y="3218688"/>
            <a:ext cx="3154680" cy="384048"/>
          </a:xfrm>
          <a:prstGeom prst="rect">
            <a:avLst/>
          </a:prstGeom>
          <a:noFill/>
          <a:ln/>
        </p:spPr>
        <p:txBody>
          <a:bodyPr wrap="square" rtlCol="0" anchor="ctr"/>
          <a:lstStyle/>
          <a:p>
            <a:pPr marL="0" indent="0">
              <a:buNone/>
            </a:pPr>
            <a:r>
              <a:rPr lang="en-US" sz="1050" dirty="0">
                <a:solidFill>
                  <a:schemeClr val="bg1"/>
                </a:solidFill>
                <a:latin typeface="Calibri" pitchFamily="34" charset="0"/>
                <a:ea typeface="Calibri" pitchFamily="34" charset="-122"/>
                <a:cs typeface="Calibri" pitchFamily="34" charset="-120"/>
              </a:rPr>
              <a:t>Routes : /auth · /contacts · /leads · /deals · /tasks · /emails · /users · /dashboard</a:t>
            </a:r>
            <a:endParaRPr lang="en-US" sz="1050" dirty="0">
              <a:solidFill>
                <a:schemeClr val="bg1"/>
              </a:solidFill>
            </a:endParaRPr>
          </a:p>
        </p:txBody>
      </p:sp>
      <p:sp>
        <p:nvSpPr>
          <p:cNvPr id="271" name="Shape 40"/>
          <p:cNvSpPr/>
          <p:nvPr/>
        </p:nvSpPr>
        <p:spPr>
          <a:xfrm>
            <a:off x="2560320" y="3749040"/>
            <a:ext cx="36576" cy="256032"/>
          </a:xfrm>
          <a:prstGeom prst="rect">
            <a:avLst/>
          </a:prstGeom>
          <a:solidFill>
            <a:srgbClr val="64748B"/>
          </a:solidFill>
          <a:ln/>
        </p:spPr>
      </p:sp>
      <p:sp>
        <p:nvSpPr>
          <p:cNvPr id="272" name="Text 41"/>
          <p:cNvSpPr/>
          <p:nvPr/>
        </p:nvSpPr>
        <p:spPr>
          <a:xfrm>
            <a:off x="2423160" y="3931920"/>
            <a:ext cx="320040" cy="201168"/>
          </a:xfrm>
          <a:prstGeom prst="rect">
            <a:avLst/>
          </a:prstGeom>
          <a:noFill/>
          <a:ln/>
        </p:spPr>
        <p:txBody>
          <a:bodyPr wrap="square" lIns="0" tIns="0" rIns="0" bIns="0" rtlCol="0" anchor="ctr"/>
          <a:lstStyle/>
          <a:p>
            <a:pPr marL="0" indent="0" algn="ctr">
              <a:buNone/>
            </a:pPr>
            <a:r>
              <a:rPr lang="en-US" sz="1000" dirty="0">
                <a:solidFill>
                  <a:srgbClr val="64748B"/>
                </a:solidFill>
              </a:rPr>
              <a:t>▼</a:t>
            </a:r>
            <a:endParaRPr lang="en-US" sz="1000" dirty="0"/>
          </a:p>
        </p:txBody>
      </p:sp>
      <p:sp>
        <p:nvSpPr>
          <p:cNvPr id="274" name="Shape 43"/>
          <p:cNvSpPr/>
          <p:nvPr/>
        </p:nvSpPr>
        <p:spPr>
          <a:xfrm>
            <a:off x="201168" y="4096512"/>
            <a:ext cx="1554480" cy="292608"/>
          </a:xfrm>
          <a:prstGeom prst="rect">
            <a:avLst/>
          </a:prstGeom>
          <a:solidFill>
            <a:srgbClr val="8B5CF6"/>
          </a:solidFill>
          <a:ln/>
        </p:spPr>
      </p:sp>
      <p:sp>
        <p:nvSpPr>
          <p:cNvPr id="275" name="Text 44"/>
          <p:cNvSpPr/>
          <p:nvPr/>
        </p:nvSpPr>
        <p:spPr>
          <a:xfrm>
            <a:off x="201168" y="4096512"/>
            <a:ext cx="1554480"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Bold" pitchFamily="34" charset="0"/>
                <a:ea typeface="Calibri Bold" pitchFamily="34" charset="-122"/>
                <a:cs typeface="Calibri Bold" pitchFamily="34" charset="-120"/>
              </a:rPr>
              <a:t>BASE DE DONNÉES</a:t>
            </a:r>
            <a:endParaRPr lang="en-US" sz="800" dirty="0"/>
          </a:p>
        </p:txBody>
      </p:sp>
      <p:pic>
        <p:nvPicPr>
          <p:cNvPr id="276" name="Image 3" descr="preencoded.png"/>
          <p:cNvPicPr>
            <a:picLocks noChangeAspect="1"/>
          </p:cNvPicPr>
          <p:nvPr/>
        </p:nvPicPr>
        <p:blipFill>
          <a:blip r:embed="rId6"/>
          <a:stretch>
            <a:fillRect/>
          </a:stretch>
        </p:blipFill>
        <p:spPr>
          <a:xfrm>
            <a:off x="347472" y="4480560"/>
            <a:ext cx="292608" cy="292608"/>
          </a:xfrm>
          <a:prstGeom prst="rect">
            <a:avLst/>
          </a:prstGeom>
        </p:spPr>
      </p:pic>
      <p:sp>
        <p:nvSpPr>
          <p:cNvPr id="277" name="Text 45"/>
          <p:cNvSpPr/>
          <p:nvPr/>
        </p:nvSpPr>
        <p:spPr>
          <a:xfrm>
            <a:off x="694944" y="4453128"/>
            <a:ext cx="1554480" cy="201168"/>
          </a:xfrm>
          <a:prstGeom prst="rect">
            <a:avLst/>
          </a:prstGeom>
          <a:noFill/>
          <a:ln/>
        </p:spPr>
        <p:txBody>
          <a:bodyPr wrap="square" lIns="0" tIns="0" rIns="0" bIns="0" rtlCol="0" anchor="ctr"/>
          <a:lstStyle/>
          <a:p>
            <a:pPr marL="0" indent="0">
              <a:buNone/>
            </a:pPr>
            <a:r>
              <a:rPr lang="en-US" sz="1000" b="1" dirty="0">
                <a:solidFill>
                  <a:srgbClr val="FFFFFF"/>
                </a:solidFill>
                <a:latin typeface="Calibri Bold" pitchFamily="34" charset="0"/>
                <a:ea typeface="Calibri Bold" pitchFamily="34" charset="-122"/>
                <a:cs typeface="Calibri Bold" pitchFamily="34" charset="-120"/>
              </a:rPr>
              <a:t>PostgreSQL via Neon</a:t>
            </a:r>
            <a:endParaRPr lang="en-US" sz="1000" dirty="0"/>
          </a:p>
        </p:txBody>
      </p:sp>
      <p:sp>
        <p:nvSpPr>
          <p:cNvPr id="278" name="Text 46"/>
          <p:cNvSpPr/>
          <p:nvPr/>
        </p:nvSpPr>
        <p:spPr>
          <a:xfrm>
            <a:off x="694944" y="4636008"/>
            <a:ext cx="2011680" cy="164592"/>
          </a:xfrm>
          <a:prstGeom prst="rect">
            <a:avLst/>
          </a:prstGeom>
          <a:noFill/>
          <a:ln/>
        </p:spPr>
        <p:txBody>
          <a:bodyPr wrap="square" lIns="0" tIns="0" rIns="0" bIns="0" rtlCol="0" anchor="ctr"/>
          <a:lstStyle/>
          <a:p>
            <a:pPr marL="0" indent="0">
              <a:buNone/>
            </a:pPr>
            <a:endParaRPr lang="en-US" sz="750" dirty="0"/>
          </a:p>
        </p:txBody>
      </p:sp>
      <p:sp>
        <p:nvSpPr>
          <p:cNvPr id="279" name="Shape 47"/>
          <p:cNvSpPr/>
          <p:nvPr/>
        </p:nvSpPr>
        <p:spPr>
          <a:xfrm>
            <a:off x="2760272" y="4165008"/>
            <a:ext cx="694944" cy="361272"/>
          </a:xfrm>
          <a:prstGeom prst="rect">
            <a:avLst/>
          </a:prstGeom>
          <a:solidFill>
            <a:srgbClr val="1E0F4A"/>
          </a:solidFill>
          <a:ln w="5080">
            <a:solidFill>
              <a:srgbClr val="8B5CF6"/>
            </a:solidFill>
            <a:prstDash val="solid"/>
          </a:ln>
        </p:spPr>
        <p:txBody>
          <a:bodyPr/>
          <a:lstStyle/>
          <a:p>
            <a:r>
              <a:rPr lang="fr-FR" sz="1050" dirty="0" smtClean="0">
                <a:solidFill>
                  <a:schemeClr val="bg1"/>
                </a:solidFill>
              </a:rPr>
              <a:t>contacts</a:t>
            </a:r>
            <a:endParaRPr lang="fr-FR" sz="1050" dirty="0">
              <a:solidFill>
                <a:schemeClr val="bg1"/>
              </a:solidFill>
            </a:endParaRPr>
          </a:p>
        </p:txBody>
      </p:sp>
      <p:sp>
        <p:nvSpPr>
          <p:cNvPr id="280" name="Text 48"/>
          <p:cNvSpPr/>
          <p:nvPr/>
        </p:nvSpPr>
        <p:spPr>
          <a:xfrm>
            <a:off x="2788920" y="4315968"/>
            <a:ext cx="475488" cy="502920"/>
          </a:xfrm>
          <a:prstGeom prst="rect">
            <a:avLst/>
          </a:prstGeom>
          <a:noFill/>
          <a:ln/>
        </p:spPr>
        <p:txBody>
          <a:bodyPr wrap="square" lIns="0" tIns="0" rIns="0" bIns="0" rtlCol="0" anchor="ctr"/>
          <a:lstStyle/>
          <a:p>
            <a:pPr marL="0" indent="0" algn="ctr">
              <a:buNone/>
            </a:pPr>
            <a:endParaRPr lang="en-US" sz="1050" dirty="0">
              <a:solidFill>
                <a:schemeClr val="bg1"/>
              </a:solidFill>
            </a:endParaRPr>
          </a:p>
        </p:txBody>
      </p:sp>
      <p:sp>
        <p:nvSpPr>
          <p:cNvPr id="281" name="Shape 49"/>
          <p:cNvSpPr/>
          <p:nvPr/>
        </p:nvSpPr>
        <p:spPr>
          <a:xfrm>
            <a:off x="2770631" y="4567428"/>
            <a:ext cx="810775" cy="304310"/>
          </a:xfrm>
          <a:prstGeom prst="rect">
            <a:avLst/>
          </a:prstGeom>
          <a:solidFill>
            <a:srgbClr val="1E0F4A"/>
          </a:solidFill>
          <a:ln w="5080">
            <a:solidFill>
              <a:srgbClr val="8B5CF6"/>
            </a:solidFill>
            <a:prstDash val="solid"/>
          </a:ln>
        </p:spPr>
        <p:txBody>
          <a:bodyPr/>
          <a:lstStyle/>
          <a:p>
            <a:r>
              <a:rPr lang="fr-FR" sz="1050" dirty="0" smtClean="0">
                <a:solidFill>
                  <a:schemeClr val="bg1"/>
                </a:solidFill>
              </a:rPr>
              <a:t>utilisateurs</a:t>
            </a:r>
            <a:endParaRPr lang="fr-FR" sz="1050" dirty="0">
              <a:solidFill>
                <a:schemeClr val="bg1"/>
              </a:solidFill>
            </a:endParaRPr>
          </a:p>
        </p:txBody>
      </p:sp>
      <p:sp>
        <p:nvSpPr>
          <p:cNvPr id="282" name="Text 50"/>
          <p:cNvSpPr/>
          <p:nvPr/>
        </p:nvSpPr>
        <p:spPr>
          <a:xfrm>
            <a:off x="3450350" y="4223102"/>
            <a:ext cx="475488" cy="164592"/>
          </a:xfrm>
          <a:prstGeom prst="rect">
            <a:avLst/>
          </a:prstGeom>
          <a:noFill/>
          <a:ln/>
        </p:spPr>
        <p:txBody>
          <a:bodyPr wrap="square" lIns="0" tIns="0" rIns="0" bIns="0" rtlCol="0" anchor="ctr"/>
          <a:lstStyle/>
          <a:p>
            <a:pPr marL="0" indent="0" algn="ctr">
              <a:buNone/>
            </a:pPr>
            <a:r>
              <a:rPr lang="en-US" sz="1050" dirty="0">
                <a:solidFill>
                  <a:schemeClr val="bg1"/>
                </a:solidFill>
                <a:latin typeface="Calibri" pitchFamily="34" charset="0"/>
                <a:ea typeface="Calibri" pitchFamily="34" charset="-122"/>
                <a:cs typeface="Calibri" pitchFamily="34" charset="-120"/>
              </a:rPr>
              <a:t>leads</a:t>
            </a:r>
            <a:endParaRPr lang="en-US" sz="1050" dirty="0">
              <a:solidFill>
                <a:schemeClr val="bg1"/>
              </a:solidFill>
            </a:endParaRPr>
          </a:p>
        </p:txBody>
      </p:sp>
      <p:sp>
        <p:nvSpPr>
          <p:cNvPr id="283" name="Shape 51"/>
          <p:cNvSpPr/>
          <p:nvPr/>
        </p:nvSpPr>
        <p:spPr>
          <a:xfrm>
            <a:off x="3496070" y="4151376"/>
            <a:ext cx="576072" cy="365131"/>
          </a:xfrm>
          <a:prstGeom prst="rect">
            <a:avLst/>
          </a:prstGeom>
          <a:solidFill>
            <a:srgbClr val="1E0F4A"/>
          </a:solidFill>
          <a:ln w="5080">
            <a:solidFill>
              <a:srgbClr val="8B5CF6"/>
            </a:solidFill>
            <a:prstDash val="solid"/>
          </a:ln>
        </p:spPr>
      </p:sp>
      <p:sp>
        <p:nvSpPr>
          <p:cNvPr id="284" name="Text 52"/>
          <p:cNvSpPr/>
          <p:nvPr/>
        </p:nvSpPr>
        <p:spPr>
          <a:xfrm>
            <a:off x="2229270" y="4343400"/>
            <a:ext cx="475488" cy="502920"/>
          </a:xfrm>
          <a:prstGeom prst="rect">
            <a:avLst/>
          </a:prstGeom>
          <a:noFill/>
          <a:ln/>
        </p:spPr>
        <p:txBody>
          <a:bodyPr wrap="square" lIns="0" tIns="0" rIns="0" bIns="0" rtlCol="0" anchor="ctr"/>
          <a:lstStyle/>
          <a:p>
            <a:pPr marL="0" indent="0" algn="ctr">
              <a:buNone/>
            </a:pPr>
            <a:r>
              <a:rPr lang="en-US" sz="1050" dirty="0" smtClean="0">
                <a:solidFill>
                  <a:schemeClr val="bg1"/>
                </a:solidFill>
                <a:latin typeface="Calibri" pitchFamily="34" charset="0"/>
                <a:ea typeface="Calibri" pitchFamily="34" charset="-122"/>
                <a:cs typeface="Calibri" pitchFamily="34" charset="-120"/>
              </a:rPr>
              <a:t>                          deals </a:t>
            </a:r>
            <a:endParaRPr lang="en-US" sz="1050" dirty="0">
              <a:solidFill>
                <a:schemeClr val="bg1"/>
              </a:solidFill>
            </a:endParaRPr>
          </a:p>
        </p:txBody>
      </p:sp>
      <p:sp>
        <p:nvSpPr>
          <p:cNvPr id="285" name="Shape 53"/>
          <p:cNvSpPr/>
          <p:nvPr/>
        </p:nvSpPr>
        <p:spPr>
          <a:xfrm>
            <a:off x="3636271" y="4561472"/>
            <a:ext cx="579134" cy="310266"/>
          </a:xfrm>
          <a:prstGeom prst="rect">
            <a:avLst/>
          </a:prstGeom>
          <a:solidFill>
            <a:srgbClr val="1E0F4A"/>
          </a:solidFill>
          <a:ln w="5080">
            <a:solidFill>
              <a:srgbClr val="8B5CF6"/>
            </a:solidFill>
            <a:prstDash val="solid"/>
          </a:ln>
        </p:spPr>
        <p:txBody>
          <a:bodyPr/>
          <a:lstStyle/>
          <a:p>
            <a:r>
              <a:rPr lang="fr-FR" sz="1050" dirty="0" smtClean="0">
                <a:solidFill>
                  <a:schemeClr val="bg1"/>
                </a:solidFill>
              </a:rPr>
              <a:t>tâches</a:t>
            </a:r>
            <a:endParaRPr lang="fr-FR" sz="1050" dirty="0">
              <a:solidFill>
                <a:schemeClr val="bg1"/>
              </a:solidFill>
            </a:endParaRPr>
          </a:p>
        </p:txBody>
      </p:sp>
      <p:sp>
        <p:nvSpPr>
          <p:cNvPr id="286" name="Text 54"/>
          <p:cNvSpPr/>
          <p:nvPr/>
        </p:nvSpPr>
        <p:spPr>
          <a:xfrm>
            <a:off x="4162596" y="3971642"/>
            <a:ext cx="475488" cy="502920"/>
          </a:xfrm>
          <a:prstGeom prst="rect">
            <a:avLst/>
          </a:prstGeom>
          <a:noFill/>
          <a:ln/>
        </p:spPr>
        <p:txBody>
          <a:bodyPr wrap="square" lIns="0" tIns="0" rIns="0" bIns="0" rtlCol="0" anchor="ctr"/>
          <a:lstStyle/>
          <a:p>
            <a:pPr marL="0" indent="0" algn="ctr">
              <a:buNone/>
            </a:pPr>
            <a:r>
              <a:rPr lang="en-US" sz="1050" dirty="0">
                <a:solidFill>
                  <a:schemeClr val="bg1"/>
                </a:solidFill>
                <a:latin typeface="Calibri" pitchFamily="34" charset="0"/>
                <a:cs typeface="Calibri" pitchFamily="34" charset="-120"/>
              </a:rPr>
              <a:t> </a:t>
            </a:r>
            <a:endParaRPr lang="en-US" sz="1050" dirty="0">
              <a:solidFill>
                <a:schemeClr val="bg1"/>
              </a:solidFill>
            </a:endParaRPr>
          </a:p>
        </p:txBody>
      </p:sp>
      <p:sp>
        <p:nvSpPr>
          <p:cNvPr id="287" name="Shape 55"/>
          <p:cNvSpPr/>
          <p:nvPr/>
        </p:nvSpPr>
        <p:spPr>
          <a:xfrm>
            <a:off x="4112996" y="4155487"/>
            <a:ext cx="652580" cy="361020"/>
          </a:xfrm>
          <a:prstGeom prst="rect">
            <a:avLst/>
          </a:prstGeom>
          <a:solidFill>
            <a:srgbClr val="1E0F4A"/>
          </a:solidFill>
          <a:ln w="5080">
            <a:solidFill>
              <a:srgbClr val="8B5CF6"/>
            </a:solidFill>
            <a:prstDash val="solid"/>
          </a:ln>
        </p:spPr>
        <p:txBody>
          <a:bodyPr/>
          <a:lstStyle/>
          <a:p>
            <a:r>
              <a:rPr lang="fr-FR" sz="1050" dirty="0" smtClean="0">
                <a:solidFill>
                  <a:schemeClr val="bg1"/>
                </a:solidFill>
              </a:rPr>
              <a:t>leads</a:t>
            </a:r>
            <a:endParaRPr lang="fr-FR" sz="1050" dirty="0">
              <a:solidFill>
                <a:schemeClr val="bg1"/>
              </a:solidFill>
            </a:endParaRPr>
          </a:p>
        </p:txBody>
      </p:sp>
      <p:sp>
        <p:nvSpPr>
          <p:cNvPr id="288" name="Text 56"/>
          <p:cNvSpPr/>
          <p:nvPr/>
        </p:nvSpPr>
        <p:spPr>
          <a:xfrm>
            <a:off x="3604267" y="4085857"/>
            <a:ext cx="399274" cy="502920"/>
          </a:xfrm>
          <a:prstGeom prst="rect">
            <a:avLst/>
          </a:prstGeom>
          <a:noFill/>
          <a:ln/>
        </p:spPr>
        <p:txBody>
          <a:bodyPr wrap="square" lIns="0" tIns="0" rIns="0" bIns="0" rtlCol="0" anchor="ctr"/>
          <a:lstStyle/>
          <a:p>
            <a:pPr marL="0" indent="0" algn="ctr">
              <a:buNone/>
            </a:pPr>
            <a:r>
              <a:rPr lang="en-US" sz="1050" dirty="0">
                <a:solidFill>
                  <a:schemeClr val="bg1"/>
                </a:solidFill>
                <a:latin typeface="Calibri" pitchFamily="34" charset="0"/>
                <a:ea typeface="Calibri" pitchFamily="34" charset="-122"/>
                <a:cs typeface="Calibri" pitchFamily="34" charset="-120"/>
              </a:rPr>
              <a:t>emails_log</a:t>
            </a:r>
            <a:endParaRPr lang="en-US" sz="1050" dirty="0">
              <a:solidFill>
                <a:schemeClr val="bg1"/>
              </a:solidFill>
            </a:endParaRPr>
          </a:p>
        </p:txBody>
      </p:sp>
      <p:sp>
        <p:nvSpPr>
          <p:cNvPr id="289" name="Shape 57"/>
          <p:cNvSpPr/>
          <p:nvPr/>
        </p:nvSpPr>
        <p:spPr>
          <a:xfrm>
            <a:off x="5687568" y="822960"/>
            <a:ext cx="18288" cy="4297680"/>
          </a:xfrm>
          <a:prstGeom prst="rect">
            <a:avLst/>
          </a:prstGeom>
          <a:solidFill>
            <a:srgbClr val="1E293B"/>
          </a:solidFill>
          <a:ln/>
        </p:spPr>
      </p:sp>
      <p:sp>
        <p:nvSpPr>
          <p:cNvPr id="290" name="Text 58"/>
          <p:cNvSpPr/>
          <p:nvPr/>
        </p:nvSpPr>
        <p:spPr>
          <a:xfrm>
            <a:off x="5852160" y="868680"/>
            <a:ext cx="3063240" cy="256032"/>
          </a:xfrm>
          <a:prstGeom prst="rect">
            <a:avLst/>
          </a:prstGeom>
          <a:noFill/>
          <a:ln/>
        </p:spPr>
        <p:txBody>
          <a:bodyPr wrap="square" lIns="0" tIns="0" rIns="0" bIns="0" rtlCol="0" anchor="ctr"/>
          <a:lstStyle/>
          <a:p>
            <a:pPr marL="0" indent="0" algn="ctr">
              <a:buNone/>
            </a:pPr>
            <a:r>
              <a:rPr lang="en-US" sz="800" b="1" dirty="0">
                <a:solidFill>
                  <a:srgbClr val="475569"/>
                </a:solidFill>
                <a:latin typeface="Calibri Bold" pitchFamily="34" charset="0"/>
                <a:ea typeface="Calibri Bold" pitchFamily="34" charset="-122"/>
                <a:cs typeface="Calibri Bold" pitchFamily="34" charset="-120"/>
              </a:rPr>
              <a:t>SERVICES EXTERNES</a:t>
            </a:r>
            <a:endParaRPr lang="en-US" sz="800" dirty="0"/>
          </a:p>
        </p:txBody>
      </p:sp>
      <p:sp>
        <p:nvSpPr>
          <p:cNvPr id="291" name="Shape 59"/>
          <p:cNvSpPr/>
          <p:nvPr/>
        </p:nvSpPr>
        <p:spPr>
          <a:xfrm>
            <a:off x="5852160" y="1170432"/>
            <a:ext cx="3063240" cy="868680"/>
          </a:xfrm>
          <a:prstGeom prst="rect">
            <a:avLst/>
          </a:prstGeom>
          <a:solidFill>
            <a:srgbClr val="0A0A0A"/>
          </a:solidFill>
          <a:ln w="10160">
            <a:solidFill>
              <a:srgbClr val="AAAAAA"/>
            </a:solidFill>
            <a:prstDash val="solid"/>
          </a:ln>
          <a:effectLst>
            <a:outerShdw blurRad="127000" dist="50800" dir="8100000" algn="bl" rotWithShape="0">
              <a:srgbClr val="000000">
                <a:alpha val="25000"/>
              </a:srgbClr>
            </a:outerShdw>
          </a:effectLst>
        </p:spPr>
      </p:sp>
      <p:sp>
        <p:nvSpPr>
          <p:cNvPr id="292" name="Shape 60"/>
          <p:cNvSpPr/>
          <p:nvPr/>
        </p:nvSpPr>
        <p:spPr>
          <a:xfrm>
            <a:off x="8503920" y="1225296"/>
            <a:ext cx="402336" cy="201168"/>
          </a:xfrm>
          <a:prstGeom prst="rect">
            <a:avLst/>
          </a:prstGeom>
          <a:solidFill>
            <a:srgbClr val="444444"/>
          </a:solidFill>
          <a:ln/>
        </p:spPr>
      </p:sp>
      <p:sp>
        <p:nvSpPr>
          <p:cNvPr id="293" name="Text 61"/>
          <p:cNvSpPr/>
          <p:nvPr/>
        </p:nvSpPr>
        <p:spPr>
          <a:xfrm>
            <a:off x="8503920" y="1225296"/>
            <a:ext cx="402336" cy="201168"/>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Bold" pitchFamily="34" charset="0"/>
                <a:ea typeface="Calibri Bold" pitchFamily="34" charset="-122"/>
                <a:cs typeface="Calibri Bold" pitchFamily="34" charset="-120"/>
              </a:rPr>
              <a:t>HOSTING</a:t>
            </a:r>
            <a:endParaRPr lang="en-US" sz="600" dirty="0"/>
          </a:p>
        </p:txBody>
      </p:sp>
      <p:sp>
        <p:nvSpPr>
          <p:cNvPr id="294" name="Text 62"/>
          <p:cNvSpPr/>
          <p:nvPr/>
        </p:nvSpPr>
        <p:spPr>
          <a:xfrm>
            <a:off x="6428232" y="1261872"/>
            <a:ext cx="1965960" cy="256032"/>
          </a:xfrm>
          <a:prstGeom prst="rect">
            <a:avLst/>
          </a:prstGeom>
          <a:noFill/>
          <a:ln/>
        </p:spPr>
        <p:txBody>
          <a:bodyPr wrap="square" lIns="0" tIns="0" rIns="0" bIns="0" rtlCol="0" anchor="ctr"/>
          <a:lstStyle/>
          <a:p>
            <a:pPr marL="0" indent="0">
              <a:buNone/>
            </a:pPr>
            <a:r>
              <a:rPr lang="en-US" sz="1300" b="1" dirty="0">
                <a:solidFill>
                  <a:srgbClr val="FFFFFF"/>
                </a:solidFill>
                <a:latin typeface="Calibri Bold" pitchFamily="34" charset="0"/>
                <a:ea typeface="Calibri Bold" pitchFamily="34" charset="-122"/>
                <a:cs typeface="Calibri Bold" pitchFamily="34" charset="-120"/>
              </a:rPr>
              <a:t>Vercel</a:t>
            </a:r>
            <a:endParaRPr lang="en-US" sz="1300" dirty="0"/>
          </a:p>
        </p:txBody>
      </p:sp>
      <p:sp>
        <p:nvSpPr>
          <p:cNvPr id="295" name="Text 63"/>
          <p:cNvSpPr/>
          <p:nvPr/>
        </p:nvSpPr>
        <p:spPr>
          <a:xfrm>
            <a:off x="6428232" y="1517904"/>
            <a:ext cx="2029968" cy="502920"/>
          </a:xfrm>
          <a:prstGeom prst="rect">
            <a:avLst/>
          </a:prstGeom>
          <a:noFill/>
          <a:ln/>
        </p:spPr>
        <p:txBody>
          <a:bodyPr wrap="square" rtlCol="0" anchor="ctr"/>
          <a:lstStyle/>
          <a:p>
            <a:pPr marL="0" indent="0">
              <a:lnSpc>
                <a:spcPct val="120000"/>
              </a:lnSpc>
              <a:buNone/>
            </a:pPr>
            <a:r>
              <a:rPr lang="en-US" sz="750" dirty="0">
                <a:solidFill>
                  <a:srgbClr val="94A3B8"/>
                </a:solidFill>
                <a:latin typeface="Calibri" pitchFamily="34" charset="0"/>
                <a:ea typeface="Calibri" pitchFamily="34" charset="-122"/>
                <a:cs typeface="Calibri" pitchFamily="34" charset="-120"/>
              </a:rPr>
              <a:t>Déploiement frontend + backend</a:t>
            </a:r>
            <a:endParaRPr lang="en-US" sz="750" dirty="0"/>
          </a:p>
          <a:p>
            <a:pPr marL="0" indent="0">
              <a:lnSpc>
                <a:spcPct val="120000"/>
              </a:lnSpc>
              <a:buNone/>
            </a:pPr>
            <a:r>
              <a:rPr lang="en-US" sz="750" dirty="0">
                <a:solidFill>
                  <a:srgbClr val="94A3B8"/>
                </a:solidFill>
                <a:latin typeface="Calibri" pitchFamily="34" charset="0"/>
                <a:ea typeface="Calibri" pitchFamily="34" charset="-122"/>
                <a:cs typeface="Calibri" pitchFamily="34" charset="-120"/>
              </a:rPr>
              <a:t>CI/CD automatique via GitHub</a:t>
            </a:r>
            <a:endParaRPr lang="en-US" sz="750" dirty="0"/>
          </a:p>
          <a:p>
            <a:pPr marL="0" indent="0">
              <a:lnSpc>
                <a:spcPct val="120000"/>
              </a:lnSpc>
              <a:buNone/>
            </a:pPr>
            <a:r>
              <a:rPr lang="en-US" sz="750" dirty="0">
                <a:solidFill>
                  <a:srgbClr val="94A3B8"/>
                </a:solidFill>
                <a:latin typeface="Calibri" pitchFamily="34" charset="0"/>
                <a:ea typeface="Calibri" pitchFamily="34" charset="-122"/>
                <a:cs typeface="Calibri" pitchFamily="34" charset="-120"/>
              </a:rPr>
              <a:t>CDN mondial · HTTPS</a:t>
            </a:r>
            <a:endParaRPr lang="en-US" sz="750" dirty="0"/>
          </a:p>
        </p:txBody>
      </p:sp>
      <p:sp>
        <p:nvSpPr>
          <p:cNvPr id="296" name="Shape 64"/>
          <p:cNvSpPr/>
          <p:nvPr/>
        </p:nvSpPr>
        <p:spPr>
          <a:xfrm>
            <a:off x="5504688" y="1572768"/>
            <a:ext cx="347472" cy="36576"/>
          </a:xfrm>
          <a:prstGeom prst="rect">
            <a:avLst/>
          </a:prstGeom>
          <a:solidFill>
            <a:srgbClr val="AAAAAA"/>
          </a:solidFill>
          <a:ln/>
        </p:spPr>
      </p:sp>
      <p:sp>
        <p:nvSpPr>
          <p:cNvPr id="297" name="Text 65"/>
          <p:cNvSpPr/>
          <p:nvPr/>
        </p:nvSpPr>
        <p:spPr>
          <a:xfrm>
            <a:off x="5486400" y="1463040"/>
            <a:ext cx="320040" cy="228600"/>
          </a:xfrm>
          <a:prstGeom prst="rect">
            <a:avLst/>
          </a:prstGeom>
          <a:noFill/>
          <a:ln/>
        </p:spPr>
        <p:txBody>
          <a:bodyPr wrap="square" lIns="0" tIns="0" rIns="0" bIns="0" rtlCol="0" anchor="ctr"/>
          <a:lstStyle/>
          <a:p>
            <a:pPr marL="0" indent="0" algn="ctr">
              <a:buNone/>
            </a:pPr>
            <a:r>
              <a:rPr lang="en-US" sz="1000" dirty="0">
                <a:solidFill>
                  <a:srgbClr val="AAAAAA"/>
                </a:solidFill>
              </a:rPr>
              <a:t>←</a:t>
            </a:r>
            <a:endParaRPr lang="en-US" sz="1000" dirty="0"/>
          </a:p>
        </p:txBody>
      </p:sp>
      <p:sp>
        <p:nvSpPr>
          <p:cNvPr id="298" name="Shape 66"/>
          <p:cNvSpPr/>
          <p:nvPr/>
        </p:nvSpPr>
        <p:spPr>
          <a:xfrm>
            <a:off x="5852160" y="2157984"/>
            <a:ext cx="3063240" cy="868680"/>
          </a:xfrm>
          <a:prstGeom prst="rect">
            <a:avLst/>
          </a:prstGeom>
          <a:solidFill>
            <a:srgbClr val="161B22"/>
          </a:solidFill>
          <a:ln w="10160">
            <a:solidFill>
              <a:srgbClr val="30363D"/>
            </a:solidFill>
            <a:prstDash val="solid"/>
          </a:ln>
          <a:effectLst>
            <a:outerShdw blurRad="127000" dist="50800" dir="8100000" algn="bl" rotWithShape="0">
              <a:srgbClr val="000000">
                <a:alpha val="25000"/>
              </a:srgbClr>
            </a:outerShdw>
          </a:effectLst>
        </p:spPr>
      </p:sp>
      <p:sp>
        <p:nvSpPr>
          <p:cNvPr id="299" name="Shape 67"/>
          <p:cNvSpPr/>
          <p:nvPr/>
        </p:nvSpPr>
        <p:spPr>
          <a:xfrm>
            <a:off x="8503920" y="2212848"/>
            <a:ext cx="402336" cy="201168"/>
          </a:xfrm>
          <a:prstGeom prst="rect">
            <a:avLst/>
          </a:prstGeom>
          <a:solidFill>
            <a:srgbClr val="238636"/>
          </a:solidFill>
          <a:ln/>
        </p:spPr>
      </p:sp>
      <p:sp>
        <p:nvSpPr>
          <p:cNvPr id="300" name="Text 68"/>
          <p:cNvSpPr/>
          <p:nvPr/>
        </p:nvSpPr>
        <p:spPr>
          <a:xfrm>
            <a:off x="8503920" y="2212848"/>
            <a:ext cx="402336" cy="201168"/>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Bold" pitchFamily="34" charset="0"/>
                <a:ea typeface="Calibri Bold" pitchFamily="34" charset="-122"/>
                <a:cs typeface="Calibri Bold" pitchFamily="34" charset="-120"/>
              </a:rPr>
              <a:t>CI/CD</a:t>
            </a:r>
            <a:endParaRPr lang="en-US" sz="600" dirty="0"/>
          </a:p>
        </p:txBody>
      </p:sp>
      <p:pic>
        <p:nvPicPr>
          <p:cNvPr id="301" name="Image 4" descr="preencoded.png"/>
          <p:cNvPicPr>
            <a:picLocks noChangeAspect="1"/>
          </p:cNvPicPr>
          <p:nvPr/>
        </p:nvPicPr>
        <p:blipFill>
          <a:blip r:embed="rId7"/>
          <a:stretch>
            <a:fillRect/>
          </a:stretch>
        </p:blipFill>
        <p:spPr>
          <a:xfrm>
            <a:off x="5989320" y="2377440"/>
            <a:ext cx="347472" cy="347472"/>
          </a:xfrm>
          <a:prstGeom prst="rect">
            <a:avLst/>
          </a:prstGeom>
        </p:spPr>
      </p:pic>
      <p:sp>
        <p:nvSpPr>
          <p:cNvPr id="302" name="Text 69"/>
          <p:cNvSpPr/>
          <p:nvPr/>
        </p:nvSpPr>
        <p:spPr>
          <a:xfrm>
            <a:off x="6428232" y="2249424"/>
            <a:ext cx="1965960" cy="256032"/>
          </a:xfrm>
          <a:prstGeom prst="rect">
            <a:avLst/>
          </a:prstGeom>
          <a:noFill/>
          <a:ln/>
        </p:spPr>
        <p:txBody>
          <a:bodyPr wrap="square" lIns="0" tIns="0" rIns="0" bIns="0" rtlCol="0" anchor="ctr"/>
          <a:lstStyle/>
          <a:p>
            <a:pPr marL="0" indent="0">
              <a:buNone/>
            </a:pPr>
            <a:r>
              <a:rPr lang="en-US" sz="1300" b="1" dirty="0">
                <a:solidFill>
                  <a:srgbClr val="FFFFFF"/>
                </a:solidFill>
                <a:latin typeface="Calibri Bold" pitchFamily="34" charset="0"/>
                <a:ea typeface="Calibri Bold" pitchFamily="34" charset="-122"/>
                <a:cs typeface="Calibri Bold" pitchFamily="34" charset="-120"/>
              </a:rPr>
              <a:t>GitHub</a:t>
            </a:r>
            <a:endParaRPr lang="en-US" sz="1300" dirty="0"/>
          </a:p>
        </p:txBody>
      </p:sp>
      <p:sp>
        <p:nvSpPr>
          <p:cNvPr id="303" name="Text 70"/>
          <p:cNvSpPr/>
          <p:nvPr/>
        </p:nvSpPr>
        <p:spPr>
          <a:xfrm>
            <a:off x="6428232" y="2505456"/>
            <a:ext cx="2029968" cy="502920"/>
          </a:xfrm>
          <a:prstGeom prst="rect">
            <a:avLst/>
          </a:prstGeom>
          <a:noFill/>
          <a:ln/>
        </p:spPr>
        <p:txBody>
          <a:bodyPr wrap="square" rtlCol="0" anchor="ctr"/>
          <a:lstStyle/>
          <a:p>
            <a:pPr marL="0" indent="0">
              <a:lnSpc>
                <a:spcPct val="120000"/>
              </a:lnSpc>
              <a:buNone/>
            </a:pPr>
            <a:r>
              <a:rPr lang="en-US" sz="750" dirty="0">
                <a:solidFill>
                  <a:srgbClr val="94A3B8"/>
                </a:solidFill>
                <a:latin typeface="Calibri" pitchFamily="34" charset="0"/>
                <a:ea typeface="Calibri" pitchFamily="34" charset="-122"/>
                <a:cs typeface="Calibri" pitchFamily="34" charset="-120"/>
              </a:rPr>
              <a:t>Versioning + branches</a:t>
            </a:r>
            <a:endParaRPr lang="en-US" sz="750" dirty="0"/>
          </a:p>
          <a:p>
            <a:pPr marL="0" indent="0">
              <a:lnSpc>
                <a:spcPct val="120000"/>
              </a:lnSpc>
              <a:buNone/>
            </a:pPr>
            <a:r>
              <a:rPr lang="en-US" sz="750" dirty="0">
                <a:solidFill>
                  <a:srgbClr val="94A3B8"/>
                </a:solidFill>
                <a:latin typeface="Calibri" pitchFamily="34" charset="0"/>
                <a:ea typeface="Calibri" pitchFamily="34" charset="-122"/>
                <a:cs typeface="Calibri" pitchFamily="34" charset="-120"/>
              </a:rPr>
              <a:t>Pull Requests · Code Review</a:t>
            </a:r>
            <a:endParaRPr lang="en-US" sz="750" dirty="0"/>
          </a:p>
          <a:p>
            <a:pPr marL="0" indent="0">
              <a:lnSpc>
                <a:spcPct val="120000"/>
              </a:lnSpc>
              <a:buNone/>
            </a:pPr>
            <a:r>
              <a:rPr lang="en-US" sz="750" dirty="0">
                <a:solidFill>
                  <a:srgbClr val="94A3B8"/>
                </a:solidFill>
                <a:latin typeface="Calibri" pitchFamily="34" charset="0"/>
                <a:ea typeface="Calibri" pitchFamily="34" charset="-122"/>
                <a:cs typeface="Calibri" pitchFamily="34" charset="-120"/>
              </a:rPr>
              <a:t>Workflows CI/CD (.github/workflows)</a:t>
            </a:r>
            <a:endParaRPr lang="en-US" sz="750" dirty="0"/>
          </a:p>
        </p:txBody>
      </p:sp>
      <p:sp>
        <p:nvSpPr>
          <p:cNvPr id="304" name="Shape 71"/>
          <p:cNvSpPr/>
          <p:nvPr/>
        </p:nvSpPr>
        <p:spPr>
          <a:xfrm>
            <a:off x="5504688" y="2560320"/>
            <a:ext cx="347472" cy="36576"/>
          </a:xfrm>
          <a:prstGeom prst="rect">
            <a:avLst/>
          </a:prstGeom>
          <a:solidFill>
            <a:srgbClr val="238636"/>
          </a:solidFill>
          <a:ln/>
        </p:spPr>
      </p:sp>
      <p:sp>
        <p:nvSpPr>
          <p:cNvPr id="305" name="Text 72"/>
          <p:cNvSpPr/>
          <p:nvPr/>
        </p:nvSpPr>
        <p:spPr>
          <a:xfrm>
            <a:off x="5486400" y="2450592"/>
            <a:ext cx="320040" cy="228600"/>
          </a:xfrm>
          <a:prstGeom prst="rect">
            <a:avLst/>
          </a:prstGeom>
          <a:noFill/>
          <a:ln/>
        </p:spPr>
        <p:txBody>
          <a:bodyPr wrap="square" lIns="0" tIns="0" rIns="0" bIns="0" rtlCol="0" anchor="ctr"/>
          <a:lstStyle/>
          <a:p>
            <a:pPr marL="0" indent="0" algn="ctr">
              <a:buNone/>
            </a:pPr>
            <a:r>
              <a:rPr lang="en-US" sz="1000" dirty="0">
                <a:solidFill>
                  <a:srgbClr val="238636"/>
                </a:solidFill>
              </a:rPr>
              <a:t>←</a:t>
            </a:r>
            <a:endParaRPr lang="en-US" sz="1000" dirty="0"/>
          </a:p>
        </p:txBody>
      </p:sp>
      <p:sp>
        <p:nvSpPr>
          <p:cNvPr id="306" name="Shape 73"/>
          <p:cNvSpPr/>
          <p:nvPr/>
        </p:nvSpPr>
        <p:spPr>
          <a:xfrm>
            <a:off x="5852160" y="3145536"/>
            <a:ext cx="3063240" cy="868680"/>
          </a:xfrm>
          <a:prstGeom prst="rect">
            <a:avLst/>
          </a:prstGeom>
          <a:solidFill>
            <a:srgbClr val="0F1F1A"/>
          </a:solidFill>
          <a:ln w="10160">
            <a:solidFill>
              <a:srgbClr val="059669"/>
            </a:solidFill>
            <a:prstDash val="solid"/>
          </a:ln>
          <a:effectLst>
            <a:outerShdw blurRad="127000" dist="50800" dir="8100000" algn="bl" rotWithShape="0">
              <a:srgbClr val="000000">
                <a:alpha val="25000"/>
              </a:srgbClr>
            </a:outerShdw>
          </a:effectLst>
        </p:spPr>
      </p:sp>
      <p:sp>
        <p:nvSpPr>
          <p:cNvPr id="307" name="Shape 74"/>
          <p:cNvSpPr/>
          <p:nvPr/>
        </p:nvSpPr>
        <p:spPr>
          <a:xfrm>
            <a:off x="8503920" y="3200400"/>
            <a:ext cx="402336" cy="201168"/>
          </a:xfrm>
          <a:prstGeom prst="rect">
            <a:avLst/>
          </a:prstGeom>
          <a:solidFill>
            <a:srgbClr val="059669"/>
          </a:solidFill>
          <a:ln/>
        </p:spPr>
      </p:sp>
      <p:sp>
        <p:nvSpPr>
          <p:cNvPr id="308" name="Text 75"/>
          <p:cNvSpPr/>
          <p:nvPr/>
        </p:nvSpPr>
        <p:spPr>
          <a:xfrm>
            <a:off x="8503920" y="3200400"/>
            <a:ext cx="402336" cy="201168"/>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Bold" pitchFamily="34" charset="0"/>
                <a:ea typeface="Calibri Bold" pitchFamily="34" charset="-122"/>
                <a:cs typeface="Calibri Bold" pitchFamily="34" charset="-120"/>
              </a:rPr>
              <a:t>EMAIL</a:t>
            </a:r>
            <a:endParaRPr lang="en-US" sz="600" dirty="0"/>
          </a:p>
        </p:txBody>
      </p:sp>
      <p:pic>
        <p:nvPicPr>
          <p:cNvPr id="309" name="Image 5" descr="preencoded.png"/>
          <p:cNvPicPr>
            <a:picLocks noChangeAspect="1"/>
          </p:cNvPicPr>
          <p:nvPr/>
        </p:nvPicPr>
        <p:blipFill>
          <a:blip r:embed="rId8"/>
          <a:stretch>
            <a:fillRect/>
          </a:stretch>
        </p:blipFill>
        <p:spPr>
          <a:xfrm>
            <a:off x="5989320" y="3364992"/>
            <a:ext cx="347472" cy="347472"/>
          </a:xfrm>
          <a:prstGeom prst="rect">
            <a:avLst/>
          </a:prstGeom>
        </p:spPr>
      </p:pic>
      <p:sp>
        <p:nvSpPr>
          <p:cNvPr id="310" name="Text 76"/>
          <p:cNvSpPr/>
          <p:nvPr/>
        </p:nvSpPr>
        <p:spPr>
          <a:xfrm>
            <a:off x="6428232" y="3236976"/>
            <a:ext cx="1965960" cy="256032"/>
          </a:xfrm>
          <a:prstGeom prst="rect">
            <a:avLst/>
          </a:prstGeom>
          <a:noFill/>
          <a:ln/>
        </p:spPr>
        <p:txBody>
          <a:bodyPr wrap="square" lIns="0" tIns="0" rIns="0" bIns="0" rtlCol="0" anchor="ctr"/>
          <a:lstStyle/>
          <a:p>
            <a:pPr marL="0" indent="0">
              <a:buNone/>
            </a:pPr>
            <a:r>
              <a:rPr lang="en-US" sz="1300" b="1" dirty="0">
                <a:solidFill>
                  <a:srgbClr val="FFFFFF"/>
                </a:solidFill>
                <a:latin typeface="Calibri Bold" pitchFamily="34" charset="0"/>
                <a:ea typeface="Calibri Bold" pitchFamily="34" charset="-122"/>
                <a:cs typeface="Calibri Bold" pitchFamily="34" charset="-120"/>
              </a:rPr>
              <a:t>Brevo</a:t>
            </a:r>
            <a:endParaRPr lang="en-US" sz="1300" dirty="0"/>
          </a:p>
        </p:txBody>
      </p:sp>
      <p:sp>
        <p:nvSpPr>
          <p:cNvPr id="311" name="Text 77"/>
          <p:cNvSpPr/>
          <p:nvPr/>
        </p:nvSpPr>
        <p:spPr>
          <a:xfrm>
            <a:off x="6428232" y="3493008"/>
            <a:ext cx="2029968" cy="502920"/>
          </a:xfrm>
          <a:prstGeom prst="rect">
            <a:avLst/>
          </a:prstGeom>
          <a:noFill/>
          <a:ln/>
        </p:spPr>
        <p:txBody>
          <a:bodyPr wrap="square" rtlCol="0" anchor="ctr"/>
          <a:lstStyle/>
          <a:p>
            <a:pPr marL="0" indent="0">
              <a:lnSpc>
                <a:spcPct val="120000"/>
              </a:lnSpc>
              <a:buNone/>
            </a:pPr>
            <a:r>
              <a:rPr lang="en-US" sz="750" dirty="0">
                <a:solidFill>
                  <a:srgbClr val="94A3B8"/>
                </a:solidFill>
                <a:latin typeface="Calibri" pitchFamily="34" charset="0"/>
                <a:ea typeface="Calibri" pitchFamily="34" charset="-122"/>
                <a:cs typeface="Calibri" pitchFamily="34" charset="-120"/>
              </a:rPr>
              <a:t>Envoi emails transactionnels</a:t>
            </a:r>
            <a:endParaRPr lang="en-US" sz="750" dirty="0"/>
          </a:p>
          <a:p>
            <a:pPr marL="0" indent="0">
              <a:lnSpc>
                <a:spcPct val="120000"/>
              </a:lnSpc>
              <a:buNone/>
            </a:pPr>
            <a:r>
              <a:rPr lang="en-US" sz="750" dirty="0">
                <a:solidFill>
                  <a:srgbClr val="94A3B8"/>
                </a:solidFill>
                <a:latin typeface="Calibri" pitchFamily="34" charset="0"/>
                <a:ea typeface="Calibri" pitchFamily="34" charset="-122"/>
                <a:cs typeface="Calibri" pitchFamily="34" charset="-120"/>
              </a:rPr>
              <a:t>POST /v3/smtp/email</a:t>
            </a:r>
            <a:endParaRPr lang="en-US" sz="750" dirty="0"/>
          </a:p>
          <a:p>
            <a:pPr marL="0" indent="0">
              <a:lnSpc>
                <a:spcPct val="120000"/>
              </a:lnSpc>
              <a:buNone/>
            </a:pPr>
            <a:r>
              <a:rPr lang="en-US" sz="750" dirty="0">
                <a:solidFill>
                  <a:srgbClr val="94A3B8"/>
                </a:solidFill>
                <a:latin typeface="Calibri" pitchFamily="34" charset="0"/>
                <a:ea typeface="Calibri" pitchFamily="34" charset="-122"/>
                <a:cs typeface="Calibri" pitchFamily="34" charset="-120"/>
              </a:rPr>
              <a:t>Logs → table emails_log</a:t>
            </a:r>
            <a:endParaRPr lang="en-US" sz="750" dirty="0"/>
          </a:p>
        </p:txBody>
      </p:sp>
      <p:sp>
        <p:nvSpPr>
          <p:cNvPr id="312" name="Shape 78"/>
          <p:cNvSpPr/>
          <p:nvPr/>
        </p:nvSpPr>
        <p:spPr>
          <a:xfrm>
            <a:off x="5504688" y="3547872"/>
            <a:ext cx="347472" cy="36576"/>
          </a:xfrm>
          <a:prstGeom prst="rect">
            <a:avLst/>
          </a:prstGeom>
          <a:solidFill>
            <a:srgbClr val="059669"/>
          </a:solidFill>
          <a:ln/>
        </p:spPr>
      </p:sp>
      <p:sp>
        <p:nvSpPr>
          <p:cNvPr id="313" name="Text 79"/>
          <p:cNvSpPr/>
          <p:nvPr/>
        </p:nvSpPr>
        <p:spPr>
          <a:xfrm>
            <a:off x="5486400" y="3438144"/>
            <a:ext cx="320040" cy="228600"/>
          </a:xfrm>
          <a:prstGeom prst="rect">
            <a:avLst/>
          </a:prstGeom>
          <a:noFill/>
          <a:ln/>
        </p:spPr>
        <p:txBody>
          <a:bodyPr wrap="square" lIns="0" tIns="0" rIns="0" bIns="0" rtlCol="0" anchor="ctr"/>
          <a:lstStyle/>
          <a:p>
            <a:pPr marL="0" indent="0" algn="ctr">
              <a:buNone/>
            </a:pPr>
            <a:r>
              <a:rPr lang="en-US" sz="1000" dirty="0">
                <a:solidFill>
                  <a:srgbClr val="059669"/>
                </a:solidFill>
              </a:rPr>
              <a:t>←</a:t>
            </a:r>
            <a:endParaRPr lang="en-US" sz="1000" dirty="0"/>
          </a:p>
        </p:txBody>
      </p:sp>
      <p:sp>
        <p:nvSpPr>
          <p:cNvPr id="314" name="Shape 80"/>
          <p:cNvSpPr/>
          <p:nvPr/>
        </p:nvSpPr>
        <p:spPr>
          <a:xfrm>
            <a:off x="5852160" y="4133088"/>
            <a:ext cx="3063240" cy="868680"/>
          </a:xfrm>
          <a:prstGeom prst="rect">
            <a:avLst/>
          </a:prstGeom>
          <a:solidFill>
            <a:srgbClr val="0D1B2A"/>
          </a:solidFill>
          <a:ln w="10160">
            <a:solidFill>
              <a:srgbClr val="2496ED"/>
            </a:solidFill>
            <a:prstDash val="solid"/>
          </a:ln>
          <a:effectLst>
            <a:outerShdw blurRad="127000" dist="50800" dir="8100000" algn="bl" rotWithShape="0">
              <a:srgbClr val="000000">
                <a:alpha val="25000"/>
              </a:srgbClr>
            </a:outerShdw>
          </a:effectLst>
        </p:spPr>
      </p:sp>
      <p:sp>
        <p:nvSpPr>
          <p:cNvPr id="315" name="Shape 81"/>
          <p:cNvSpPr/>
          <p:nvPr/>
        </p:nvSpPr>
        <p:spPr>
          <a:xfrm>
            <a:off x="8503920" y="4187952"/>
            <a:ext cx="402336" cy="201168"/>
          </a:xfrm>
          <a:prstGeom prst="rect">
            <a:avLst/>
          </a:prstGeom>
          <a:solidFill>
            <a:srgbClr val="2496ED"/>
          </a:solidFill>
          <a:ln/>
        </p:spPr>
      </p:sp>
      <p:sp>
        <p:nvSpPr>
          <p:cNvPr id="316" name="Text 82"/>
          <p:cNvSpPr/>
          <p:nvPr/>
        </p:nvSpPr>
        <p:spPr>
          <a:xfrm>
            <a:off x="8503920" y="4187952"/>
            <a:ext cx="402336" cy="201168"/>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Bold" pitchFamily="34" charset="0"/>
                <a:ea typeface="Calibri Bold" pitchFamily="34" charset="-122"/>
                <a:cs typeface="Calibri Bold" pitchFamily="34" charset="-120"/>
              </a:rPr>
              <a:t>BONUS</a:t>
            </a:r>
            <a:endParaRPr lang="en-US" sz="600" dirty="0"/>
          </a:p>
        </p:txBody>
      </p:sp>
      <p:pic>
        <p:nvPicPr>
          <p:cNvPr id="317" name="Image 6" descr="preencoded.png"/>
          <p:cNvPicPr>
            <a:picLocks noChangeAspect="1"/>
          </p:cNvPicPr>
          <p:nvPr/>
        </p:nvPicPr>
        <p:blipFill>
          <a:blip r:embed="rId9"/>
          <a:stretch>
            <a:fillRect/>
          </a:stretch>
        </p:blipFill>
        <p:spPr>
          <a:xfrm>
            <a:off x="5989320" y="4352544"/>
            <a:ext cx="347472" cy="347472"/>
          </a:xfrm>
          <a:prstGeom prst="rect">
            <a:avLst/>
          </a:prstGeom>
        </p:spPr>
      </p:pic>
      <p:sp>
        <p:nvSpPr>
          <p:cNvPr id="318" name="Text 83"/>
          <p:cNvSpPr/>
          <p:nvPr/>
        </p:nvSpPr>
        <p:spPr>
          <a:xfrm>
            <a:off x="6428232" y="4224528"/>
            <a:ext cx="1965960" cy="256032"/>
          </a:xfrm>
          <a:prstGeom prst="rect">
            <a:avLst/>
          </a:prstGeom>
          <a:noFill/>
          <a:ln/>
        </p:spPr>
        <p:txBody>
          <a:bodyPr wrap="square" lIns="0" tIns="0" rIns="0" bIns="0" rtlCol="0" anchor="ctr"/>
          <a:lstStyle/>
          <a:p>
            <a:pPr marL="0" indent="0">
              <a:buNone/>
            </a:pPr>
            <a:r>
              <a:rPr lang="en-US" sz="1300" b="1" dirty="0">
                <a:solidFill>
                  <a:srgbClr val="FFFFFF"/>
                </a:solidFill>
                <a:latin typeface="Calibri Bold" pitchFamily="34" charset="0"/>
                <a:ea typeface="Calibri Bold" pitchFamily="34" charset="-122"/>
                <a:cs typeface="Calibri Bold" pitchFamily="34" charset="-120"/>
              </a:rPr>
              <a:t>Docker</a:t>
            </a:r>
            <a:endParaRPr lang="en-US" sz="1300" dirty="0"/>
          </a:p>
        </p:txBody>
      </p:sp>
      <p:sp>
        <p:nvSpPr>
          <p:cNvPr id="319" name="Text 84"/>
          <p:cNvSpPr/>
          <p:nvPr/>
        </p:nvSpPr>
        <p:spPr>
          <a:xfrm>
            <a:off x="6428232" y="4480560"/>
            <a:ext cx="2029968" cy="502920"/>
          </a:xfrm>
          <a:prstGeom prst="rect">
            <a:avLst/>
          </a:prstGeom>
          <a:noFill/>
          <a:ln/>
        </p:spPr>
        <p:txBody>
          <a:bodyPr wrap="square" rtlCol="0" anchor="ctr"/>
          <a:lstStyle/>
          <a:p>
            <a:pPr marL="0" indent="0">
              <a:lnSpc>
                <a:spcPct val="120000"/>
              </a:lnSpc>
              <a:buNone/>
            </a:pPr>
            <a:r>
              <a:rPr lang="en-US" sz="750" dirty="0">
                <a:solidFill>
                  <a:srgbClr val="94A3B8"/>
                </a:solidFill>
                <a:latin typeface="Calibri" pitchFamily="34" charset="0"/>
                <a:ea typeface="Calibri" pitchFamily="34" charset="-122"/>
                <a:cs typeface="Calibri" pitchFamily="34" charset="-120"/>
              </a:rPr>
              <a:t>docker-compose local</a:t>
            </a:r>
            <a:endParaRPr lang="en-US" sz="750" dirty="0"/>
          </a:p>
          <a:p>
            <a:pPr marL="0" indent="0">
              <a:lnSpc>
                <a:spcPct val="120000"/>
              </a:lnSpc>
              <a:buNone/>
            </a:pPr>
            <a:r>
              <a:rPr lang="en-US" sz="750" dirty="0">
                <a:solidFill>
                  <a:srgbClr val="94A3B8"/>
                </a:solidFill>
                <a:latin typeface="Calibri" pitchFamily="34" charset="0"/>
                <a:ea typeface="Calibri" pitchFamily="34" charset="-122"/>
                <a:cs typeface="Calibri" pitchFamily="34" charset="-120"/>
              </a:rPr>
              <a:t>frontend + backend + Neon</a:t>
            </a:r>
            <a:endParaRPr lang="en-US" sz="750" dirty="0"/>
          </a:p>
          <a:p>
            <a:pPr marL="0" indent="0">
              <a:lnSpc>
                <a:spcPct val="120000"/>
              </a:lnSpc>
              <a:buNone/>
            </a:pPr>
            <a:r>
              <a:rPr lang="en-US" sz="750" dirty="0">
                <a:solidFill>
                  <a:srgbClr val="94A3B8"/>
                </a:solidFill>
                <a:latin typeface="Calibri" pitchFamily="34" charset="0"/>
                <a:ea typeface="Calibri" pitchFamily="34" charset="-122"/>
                <a:cs typeface="Calibri" pitchFamily="34" charset="-120"/>
              </a:rPr>
              <a:t>Portabilité dev → prod</a:t>
            </a:r>
            <a:endParaRPr lang="en-US" sz="750" dirty="0"/>
          </a:p>
        </p:txBody>
      </p:sp>
      <p:sp>
        <p:nvSpPr>
          <p:cNvPr id="320" name="Shape 85"/>
          <p:cNvSpPr/>
          <p:nvPr/>
        </p:nvSpPr>
        <p:spPr>
          <a:xfrm>
            <a:off x="5504688" y="4535424"/>
            <a:ext cx="347472" cy="36576"/>
          </a:xfrm>
          <a:prstGeom prst="rect">
            <a:avLst/>
          </a:prstGeom>
          <a:solidFill>
            <a:srgbClr val="2496ED"/>
          </a:solidFill>
          <a:ln/>
        </p:spPr>
      </p:sp>
      <p:sp>
        <p:nvSpPr>
          <p:cNvPr id="321" name="Text 86"/>
          <p:cNvSpPr/>
          <p:nvPr/>
        </p:nvSpPr>
        <p:spPr>
          <a:xfrm>
            <a:off x="5486400" y="4425696"/>
            <a:ext cx="320040" cy="228600"/>
          </a:xfrm>
          <a:prstGeom prst="rect">
            <a:avLst/>
          </a:prstGeom>
          <a:noFill/>
          <a:ln/>
        </p:spPr>
        <p:txBody>
          <a:bodyPr wrap="square" lIns="0" tIns="0" rIns="0" bIns="0" rtlCol="0" anchor="ctr"/>
          <a:lstStyle/>
          <a:p>
            <a:pPr marL="0" indent="0" algn="ctr">
              <a:buNone/>
            </a:pPr>
            <a:r>
              <a:rPr lang="en-US" sz="1000" dirty="0">
                <a:solidFill>
                  <a:srgbClr val="2496ED"/>
                </a:solidFill>
              </a:rPr>
              <a:t>←</a:t>
            </a:r>
            <a:endParaRPr lang="en-US" sz="1000" dirty="0"/>
          </a:p>
        </p:txBody>
      </p:sp>
      <p:sp>
        <p:nvSpPr>
          <p:cNvPr id="96" name="Shape 47"/>
          <p:cNvSpPr/>
          <p:nvPr/>
        </p:nvSpPr>
        <p:spPr>
          <a:xfrm>
            <a:off x="2084832" y="4144665"/>
            <a:ext cx="631481" cy="371842"/>
          </a:xfrm>
          <a:prstGeom prst="rect">
            <a:avLst/>
          </a:prstGeom>
          <a:solidFill>
            <a:srgbClr val="1E0F4A"/>
          </a:solidFill>
          <a:ln w="5080">
            <a:solidFill>
              <a:srgbClr val="8B5CF6"/>
            </a:solidFill>
            <a:prstDash val="solid"/>
          </a:ln>
        </p:spPr>
      </p:sp>
      <p:sp>
        <p:nvSpPr>
          <p:cNvPr id="2" name="ZoneTexte 1"/>
          <p:cNvSpPr txBox="1"/>
          <p:nvPr/>
        </p:nvSpPr>
        <p:spPr>
          <a:xfrm>
            <a:off x="2063063" y="4189010"/>
            <a:ext cx="758952" cy="253916"/>
          </a:xfrm>
          <a:prstGeom prst="rect">
            <a:avLst/>
          </a:prstGeom>
          <a:noFill/>
        </p:spPr>
        <p:txBody>
          <a:bodyPr wrap="square" rtlCol="0">
            <a:spAutoFit/>
          </a:bodyPr>
          <a:lstStyle/>
          <a:p>
            <a:r>
              <a:rPr lang="fr-FR" sz="1050" dirty="0" smtClean="0">
                <a:solidFill>
                  <a:schemeClr val="bg1"/>
                </a:solidFill>
              </a:rPr>
              <a:t>Entreprise</a:t>
            </a:r>
            <a:endParaRPr lang="fr-FR" sz="1050" dirty="0">
              <a:solidFill>
                <a:schemeClr val="bg1"/>
              </a:solidFill>
            </a:endParaRPr>
          </a:p>
        </p:txBody>
      </p:sp>
      <p:sp>
        <p:nvSpPr>
          <p:cNvPr id="99" name="Shape 55"/>
          <p:cNvSpPr/>
          <p:nvPr/>
        </p:nvSpPr>
        <p:spPr>
          <a:xfrm>
            <a:off x="4273928" y="4592605"/>
            <a:ext cx="1075312" cy="279134"/>
          </a:xfrm>
          <a:prstGeom prst="rect">
            <a:avLst/>
          </a:prstGeom>
          <a:solidFill>
            <a:srgbClr val="1E0F4A"/>
          </a:solidFill>
          <a:ln w="5080">
            <a:solidFill>
              <a:srgbClr val="8B5CF6"/>
            </a:solidFill>
            <a:prstDash val="solid"/>
          </a:ln>
        </p:spPr>
        <p:txBody>
          <a:bodyPr/>
          <a:lstStyle/>
          <a:p>
            <a:r>
              <a:rPr lang="fr-FR" sz="1050" dirty="0" err="1" smtClean="0">
                <a:solidFill>
                  <a:schemeClr val="bg1"/>
                </a:solidFill>
              </a:rPr>
              <a:t>Password-resets</a:t>
            </a:r>
            <a:endParaRPr lang="fr-FR" sz="1050" dirty="0">
              <a:solidFill>
                <a:schemeClr val="bg1"/>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59669"/>
          </a:solidFill>
          <a:ln/>
        </p:spPr>
      </p:sp>
      <p:sp>
        <p:nvSpPr>
          <p:cNvPr id="6" name="Text 4"/>
          <p:cNvSpPr/>
          <p:nvPr/>
        </p:nvSpPr>
        <p:spPr>
          <a:xfrm>
            <a:off x="320040" y="502920"/>
            <a:ext cx="8503920" cy="640080"/>
          </a:xfrm>
          <a:prstGeom prst="rect">
            <a:avLst/>
          </a:prstGeom>
          <a:noFill/>
          <a:ln/>
        </p:spPr>
        <p:txBody>
          <a:bodyPr wrap="square" lIns="0" tIns="0" rIns="0" bIns="0" rtlCol="0" anchor="ctr"/>
          <a:lstStyle/>
          <a:p>
            <a:pPr marL="0" indent="0">
              <a:buNone/>
            </a:pPr>
            <a:r>
              <a:rPr lang="en-US" sz="3000" b="1" dirty="0">
                <a:solidFill>
                  <a:srgbClr val="1E293B"/>
                </a:solidFill>
                <a:latin typeface="Calibri Bold" pitchFamily="34" charset="0"/>
                <a:ea typeface="Calibri Bold" pitchFamily="34" charset="-122"/>
                <a:cs typeface="Calibri Bold" pitchFamily="34" charset="-120"/>
              </a:rPr>
              <a:t>Modules principaux</a:t>
            </a:r>
            <a:endParaRPr lang="en-US" sz="3000" dirty="0"/>
          </a:p>
        </p:txBody>
      </p:sp>
      <p:sp>
        <p:nvSpPr>
          <p:cNvPr id="7" name="Shape 5"/>
          <p:cNvSpPr/>
          <p:nvPr/>
        </p:nvSpPr>
        <p:spPr>
          <a:xfrm>
            <a:off x="320040" y="1280160"/>
            <a:ext cx="2788920" cy="15087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8" name="Shape 6"/>
          <p:cNvSpPr/>
          <p:nvPr/>
        </p:nvSpPr>
        <p:spPr>
          <a:xfrm>
            <a:off x="320040" y="1280160"/>
            <a:ext cx="73152" cy="1508760"/>
          </a:xfrm>
          <a:prstGeom prst="rect">
            <a:avLst/>
          </a:prstGeom>
          <a:solidFill>
            <a:srgbClr val="059669"/>
          </a:solidFill>
          <a:ln/>
        </p:spPr>
      </p:sp>
      <p:pic>
        <p:nvPicPr>
          <p:cNvPr id="9" name="Image 0" descr="preencoded.png"/>
          <p:cNvPicPr>
            <a:picLocks noChangeAspect="1"/>
          </p:cNvPicPr>
          <p:nvPr/>
        </p:nvPicPr>
        <p:blipFill>
          <a:blip r:embed="rId3"/>
          <a:stretch>
            <a:fillRect/>
          </a:stretch>
        </p:blipFill>
        <p:spPr>
          <a:xfrm>
            <a:off x="502920" y="1600200"/>
            <a:ext cx="384048" cy="384048"/>
          </a:xfrm>
          <a:prstGeom prst="rect">
            <a:avLst/>
          </a:prstGeom>
        </p:spPr>
      </p:pic>
      <p:sp>
        <p:nvSpPr>
          <p:cNvPr id="10" name="Text 7"/>
          <p:cNvSpPr/>
          <p:nvPr/>
        </p:nvSpPr>
        <p:spPr>
          <a:xfrm>
            <a:off x="978408" y="1463040"/>
            <a:ext cx="201168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Bold" pitchFamily="34" charset="0"/>
                <a:ea typeface="Calibri Bold" pitchFamily="34" charset="-122"/>
                <a:cs typeface="Calibri Bold" pitchFamily="34" charset="-120"/>
              </a:rPr>
              <a:t>Contacts</a:t>
            </a:r>
            <a:endParaRPr lang="en-US" sz="1300" dirty="0"/>
          </a:p>
        </p:txBody>
      </p:sp>
      <p:sp>
        <p:nvSpPr>
          <p:cNvPr id="11" name="Text 8"/>
          <p:cNvSpPr/>
          <p:nvPr/>
        </p:nvSpPr>
        <p:spPr>
          <a:xfrm>
            <a:off x="978408" y="1828800"/>
            <a:ext cx="2011680" cy="777240"/>
          </a:xfrm>
          <a:prstGeom prst="rect">
            <a:avLst/>
          </a:prstGeom>
          <a:noFill/>
          <a:ln/>
        </p:spPr>
        <p:txBody>
          <a:bodyPr wrap="square" rtlCol="0" anchor="ctr"/>
          <a:lstStyle/>
          <a:p>
            <a:pPr marL="0" indent="0">
              <a:lnSpc>
                <a:spcPct val="120000"/>
              </a:lnSpc>
              <a:buNone/>
            </a:pPr>
            <a:r>
              <a:rPr lang="en-US" sz="1000" dirty="0">
                <a:solidFill>
                  <a:srgbClr val="64748B"/>
                </a:solidFill>
                <a:latin typeface="Calibri" pitchFamily="34" charset="0"/>
                <a:ea typeface="Calibri" pitchFamily="34" charset="-122"/>
                <a:cs typeface="Calibri" pitchFamily="34" charset="-120"/>
              </a:rPr>
              <a:t>Fiches clients, recherche, filtres, historique</a:t>
            </a:r>
            <a:endParaRPr lang="en-US" sz="1000" dirty="0"/>
          </a:p>
        </p:txBody>
      </p:sp>
      <p:sp>
        <p:nvSpPr>
          <p:cNvPr id="12" name="Shape 9"/>
          <p:cNvSpPr/>
          <p:nvPr/>
        </p:nvSpPr>
        <p:spPr>
          <a:xfrm>
            <a:off x="3264408" y="1280160"/>
            <a:ext cx="2788920" cy="15087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13" name="Shape 10"/>
          <p:cNvSpPr/>
          <p:nvPr/>
        </p:nvSpPr>
        <p:spPr>
          <a:xfrm>
            <a:off x="3264408" y="1280160"/>
            <a:ext cx="73152" cy="1508760"/>
          </a:xfrm>
          <a:prstGeom prst="rect">
            <a:avLst/>
          </a:prstGeom>
          <a:solidFill>
            <a:srgbClr val="3B82F6"/>
          </a:solidFill>
          <a:ln/>
        </p:spPr>
      </p:sp>
      <p:pic>
        <p:nvPicPr>
          <p:cNvPr id="14" name="Image 1" descr="preencoded.png"/>
          <p:cNvPicPr>
            <a:picLocks noChangeAspect="1"/>
          </p:cNvPicPr>
          <p:nvPr/>
        </p:nvPicPr>
        <p:blipFill>
          <a:blip r:embed="rId4"/>
          <a:stretch>
            <a:fillRect/>
          </a:stretch>
        </p:blipFill>
        <p:spPr>
          <a:xfrm>
            <a:off x="3447288" y="1600200"/>
            <a:ext cx="384048" cy="384048"/>
          </a:xfrm>
          <a:prstGeom prst="rect">
            <a:avLst/>
          </a:prstGeom>
        </p:spPr>
      </p:pic>
      <p:sp>
        <p:nvSpPr>
          <p:cNvPr id="15" name="Text 11"/>
          <p:cNvSpPr/>
          <p:nvPr/>
        </p:nvSpPr>
        <p:spPr>
          <a:xfrm>
            <a:off x="3922776" y="1463040"/>
            <a:ext cx="201168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Bold" pitchFamily="34" charset="0"/>
                <a:ea typeface="Calibri Bold" pitchFamily="34" charset="-122"/>
                <a:cs typeface="Calibri Bold" pitchFamily="34" charset="-120"/>
              </a:rPr>
              <a:t>Entreprises</a:t>
            </a:r>
            <a:endParaRPr lang="en-US" sz="1300" dirty="0"/>
          </a:p>
        </p:txBody>
      </p:sp>
      <p:sp>
        <p:nvSpPr>
          <p:cNvPr id="16" name="Text 12"/>
          <p:cNvSpPr/>
          <p:nvPr/>
        </p:nvSpPr>
        <p:spPr>
          <a:xfrm>
            <a:off x="3922776" y="1828800"/>
            <a:ext cx="2011680" cy="777240"/>
          </a:xfrm>
          <a:prstGeom prst="rect">
            <a:avLst/>
          </a:prstGeom>
          <a:noFill/>
          <a:ln/>
        </p:spPr>
        <p:txBody>
          <a:bodyPr wrap="square" rtlCol="0" anchor="ctr"/>
          <a:lstStyle/>
          <a:p>
            <a:pPr marL="0" indent="0">
              <a:lnSpc>
                <a:spcPct val="120000"/>
              </a:lnSpc>
              <a:buNone/>
            </a:pPr>
            <a:r>
              <a:rPr lang="en-US" sz="1000" dirty="0">
                <a:solidFill>
                  <a:srgbClr val="64748B"/>
                </a:solidFill>
                <a:latin typeface="Calibri" pitchFamily="34" charset="0"/>
                <a:ea typeface="Calibri" pitchFamily="34" charset="-122"/>
                <a:cs typeface="Calibri" pitchFamily="34" charset="-120"/>
              </a:rPr>
              <a:t>Gestion des entreprises et associations</a:t>
            </a:r>
            <a:endParaRPr lang="en-US" sz="1000" dirty="0"/>
          </a:p>
        </p:txBody>
      </p:sp>
      <p:sp>
        <p:nvSpPr>
          <p:cNvPr id="17" name="Shape 13"/>
          <p:cNvSpPr/>
          <p:nvPr/>
        </p:nvSpPr>
        <p:spPr>
          <a:xfrm>
            <a:off x="6208776" y="1280160"/>
            <a:ext cx="2788920" cy="15087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18" name="Shape 14"/>
          <p:cNvSpPr/>
          <p:nvPr/>
        </p:nvSpPr>
        <p:spPr>
          <a:xfrm>
            <a:off x="6208776" y="1280160"/>
            <a:ext cx="73152" cy="1508760"/>
          </a:xfrm>
          <a:prstGeom prst="rect">
            <a:avLst/>
          </a:prstGeom>
          <a:solidFill>
            <a:srgbClr val="F43F5E"/>
          </a:solidFill>
          <a:ln/>
        </p:spPr>
      </p:sp>
      <p:pic>
        <p:nvPicPr>
          <p:cNvPr id="19" name="Image 2" descr="preencoded.png"/>
          <p:cNvPicPr>
            <a:picLocks noChangeAspect="1"/>
          </p:cNvPicPr>
          <p:nvPr/>
        </p:nvPicPr>
        <p:blipFill>
          <a:blip r:embed="rId5"/>
          <a:stretch>
            <a:fillRect/>
          </a:stretch>
        </p:blipFill>
        <p:spPr>
          <a:xfrm>
            <a:off x="6391656" y="1600200"/>
            <a:ext cx="384048" cy="384048"/>
          </a:xfrm>
          <a:prstGeom prst="rect">
            <a:avLst/>
          </a:prstGeom>
        </p:spPr>
      </p:pic>
      <p:sp>
        <p:nvSpPr>
          <p:cNvPr id="20" name="Text 15"/>
          <p:cNvSpPr/>
          <p:nvPr/>
        </p:nvSpPr>
        <p:spPr>
          <a:xfrm>
            <a:off x="6867144" y="1463040"/>
            <a:ext cx="201168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Bold" pitchFamily="34" charset="0"/>
                <a:ea typeface="Calibri Bold" pitchFamily="34" charset="-122"/>
                <a:cs typeface="Calibri Bold" pitchFamily="34" charset="-120"/>
              </a:rPr>
              <a:t>Leads</a:t>
            </a:r>
            <a:endParaRPr lang="en-US" sz="1300" dirty="0"/>
          </a:p>
        </p:txBody>
      </p:sp>
      <p:sp>
        <p:nvSpPr>
          <p:cNvPr id="21" name="Text 16"/>
          <p:cNvSpPr/>
          <p:nvPr/>
        </p:nvSpPr>
        <p:spPr>
          <a:xfrm>
            <a:off x="6867144" y="1828800"/>
            <a:ext cx="2011680" cy="777240"/>
          </a:xfrm>
          <a:prstGeom prst="rect">
            <a:avLst/>
          </a:prstGeom>
          <a:noFill/>
          <a:ln/>
        </p:spPr>
        <p:txBody>
          <a:bodyPr wrap="square" rtlCol="0" anchor="ctr"/>
          <a:lstStyle/>
          <a:p>
            <a:pPr marL="0" indent="0">
              <a:lnSpc>
                <a:spcPct val="120000"/>
              </a:lnSpc>
              <a:buNone/>
            </a:pPr>
            <a:r>
              <a:rPr lang="en-US" sz="1000" dirty="0">
                <a:solidFill>
                  <a:srgbClr val="64748B"/>
                </a:solidFill>
                <a:latin typeface="Calibri" pitchFamily="34" charset="0"/>
                <a:ea typeface="Calibri" pitchFamily="34" charset="-122"/>
                <a:cs typeface="Calibri" pitchFamily="34" charset="-120"/>
              </a:rPr>
              <a:t>Suivi prospects : Nouveau → Converti → Perdu</a:t>
            </a:r>
            <a:endParaRPr lang="en-US" sz="1000" dirty="0"/>
          </a:p>
        </p:txBody>
      </p:sp>
      <p:sp>
        <p:nvSpPr>
          <p:cNvPr id="22" name="Shape 17"/>
          <p:cNvSpPr/>
          <p:nvPr/>
        </p:nvSpPr>
        <p:spPr>
          <a:xfrm>
            <a:off x="320040" y="2971800"/>
            <a:ext cx="2788920" cy="15087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23" name="Shape 18"/>
          <p:cNvSpPr/>
          <p:nvPr/>
        </p:nvSpPr>
        <p:spPr>
          <a:xfrm>
            <a:off x="320040" y="2971800"/>
            <a:ext cx="73152" cy="1508760"/>
          </a:xfrm>
          <a:prstGeom prst="rect">
            <a:avLst/>
          </a:prstGeom>
          <a:solidFill>
            <a:srgbClr val="8B5CF6"/>
          </a:solidFill>
          <a:ln/>
        </p:spPr>
      </p:sp>
      <p:pic>
        <p:nvPicPr>
          <p:cNvPr id="24" name="Image 3" descr="preencoded.png"/>
          <p:cNvPicPr>
            <a:picLocks noChangeAspect="1"/>
          </p:cNvPicPr>
          <p:nvPr/>
        </p:nvPicPr>
        <p:blipFill>
          <a:blip r:embed="rId6"/>
          <a:stretch>
            <a:fillRect/>
          </a:stretch>
        </p:blipFill>
        <p:spPr>
          <a:xfrm>
            <a:off x="502920" y="3291840"/>
            <a:ext cx="384048" cy="384048"/>
          </a:xfrm>
          <a:prstGeom prst="rect">
            <a:avLst/>
          </a:prstGeom>
        </p:spPr>
      </p:pic>
      <p:sp>
        <p:nvSpPr>
          <p:cNvPr id="25" name="Text 19"/>
          <p:cNvSpPr/>
          <p:nvPr/>
        </p:nvSpPr>
        <p:spPr>
          <a:xfrm>
            <a:off x="978408" y="3154680"/>
            <a:ext cx="201168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Bold" pitchFamily="34" charset="0"/>
                <a:ea typeface="Calibri Bold" pitchFamily="34" charset="-122"/>
                <a:cs typeface="Calibri Bold" pitchFamily="34" charset="-120"/>
              </a:rPr>
              <a:t>Pipeline</a:t>
            </a:r>
            <a:endParaRPr lang="en-US" sz="1300" dirty="0"/>
          </a:p>
        </p:txBody>
      </p:sp>
      <p:sp>
        <p:nvSpPr>
          <p:cNvPr id="26" name="Text 20"/>
          <p:cNvSpPr/>
          <p:nvPr/>
        </p:nvSpPr>
        <p:spPr>
          <a:xfrm>
            <a:off x="978408" y="3520440"/>
            <a:ext cx="2011680" cy="777240"/>
          </a:xfrm>
          <a:prstGeom prst="rect">
            <a:avLst/>
          </a:prstGeom>
          <a:noFill/>
          <a:ln/>
        </p:spPr>
        <p:txBody>
          <a:bodyPr wrap="square" rtlCol="0" anchor="ctr"/>
          <a:lstStyle/>
          <a:p>
            <a:pPr marL="0" indent="0">
              <a:lnSpc>
                <a:spcPct val="120000"/>
              </a:lnSpc>
              <a:buNone/>
            </a:pPr>
            <a:r>
              <a:rPr lang="en-US" sz="1000" dirty="0">
                <a:solidFill>
                  <a:srgbClr val="64748B"/>
                </a:solidFill>
                <a:latin typeface="Calibri" pitchFamily="34" charset="0"/>
                <a:ea typeface="Calibri" pitchFamily="34" charset="-122"/>
                <a:cs typeface="Calibri" pitchFamily="34" charset="-120"/>
              </a:rPr>
              <a:t>Vue kanban du cycle de vente par étapes</a:t>
            </a:r>
            <a:endParaRPr lang="en-US" sz="1000" dirty="0"/>
          </a:p>
        </p:txBody>
      </p:sp>
      <p:sp>
        <p:nvSpPr>
          <p:cNvPr id="27" name="Shape 21"/>
          <p:cNvSpPr/>
          <p:nvPr/>
        </p:nvSpPr>
        <p:spPr>
          <a:xfrm>
            <a:off x="3264408" y="2971800"/>
            <a:ext cx="2788920" cy="15087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28" name="Shape 22"/>
          <p:cNvSpPr/>
          <p:nvPr/>
        </p:nvSpPr>
        <p:spPr>
          <a:xfrm>
            <a:off x="3264408" y="2971800"/>
            <a:ext cx="73152" cy="1508760"/>
          </a:xfrm>
          <a:prstGeom prst="rect">
            <a:avLst/>
          </a:prstGeom>
          <a:solidFill>
            <a:srgbClr val="F59E0B"/>
          </a:solidFill>
          <a:ln/>
        </p:spPr>
      </p:sp>
      <p:pic>
        <p:nvPicPr>
          <p:cNvPr id="29" name="Image 4" descr="preencoded.png"/>
          <p:cNvPicPr>
            <a:picLocks noChangeAspect="1"/>
          </p:cNvPicPr>
          <p:nvPr/>
        </p:nvPicPr>
        <p:blipFill>
          <a:blip r:embed="rId7"/>
          <a:stretch>
            <a:fillRect/>
          </a:stretch>
        </p:blipFill>
        <p:spPr>
          <a:xfrm>
            <a:off x="3447288" y="3291840"/>
            <a:ext cx="384048" cy="384048"/>
          </a:xfrm>
          <a:prstGeom prst="rect">
            <a:avLst/>
          </a:prstGeom>
        </p:spPr>
      </p:pic>
      <p:sp>
        <p:nvSpPr>
          <p:cNvPr id="30" name="Text 23"/>
          <p:cNvSpPr/>
          <p:nvPr/>
        </p:nvSpPr>
        <p:spPr>
          <a:xfrm>
            <a:off x="3922776" y="3154680"/>
            <a:ext cx="201168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Bold" pitchFamily="34" charset="0"/>
                <a:ea typeface="Calibri Bold" pitchFamily="34" charset="-122"/>
                <a:cs typeface="Calibri Bold" pitchFamily="34" charset="-120"/>
              </a:rPr>
              <a:t>Tâches</a:t>
            </a:r>
            <a:endParaRPr lang="en-US" sz="1300" dirty="0"/>
          </a:p>
        </p:txBody>
      </p:sp>
      <p:sp>
        <p:nvSpPr>
          <p:cNvPr id="31" name="Text 24"/>
          <p:cNvSpPr/>
          <p:nvPr/>
        </p:nvSpPr>
        <p:spPr>
          <a:xfrm>
            <a:off x="3922776" y="3520440"/>
            <a:ext cx="2011680" cy="777240"/>
          </a:xfrm>
          <a:prstGeom prst="rect">
            <a:avLst/>
          </a:prstGeom>
          <a:noFill/>
          <a:ln/>
        </p:spPr>
        <p:txBody>
          <a:bodyPr wrap="square" rtlCol="0" anchor="ctr"/>
          <a:lstStyle/>
          <a:p>
            <a:pPr marL="0" indent="0">
              <a:lnSpc>
                <a:spcPct val="120000"/>
              </a:lnSpc>
              <a:buNone/>
            </a:pPr>
            <a:r>
              <a:rPr lang="en-US" sz="1000" dirty="0">
                <a:solidFill>
                  <a:srgbClr val="64748B"/>
                </a:solidFill>
                <a:latin typeface="Calibri" pitchFamily="34" charset="0"/>
                <a:ea typeface="Calibri" pitchFamily="34" charset="-122"/>
                <a:cs typeface="Calibri" pitchFamily="34" charset="-120"/>
              </a:rPr>
              <a:t>Rappels, calendrier, notifications d'échéances</a:t>
            </a:r>
            <a:endParaRPr lang="en-US" sz="1000" dirty="0"/>
          </a:p>
        </p:txBody>
      </p:sp>
      <p:sp>
        <p:nvSpPr>
          <p:cNvPr id="32" name="Shape 25"/>
          <p:cNvSpPr/>
          <p:nvPr/>
        </p:nvSpPr>
        <p:spPr>
          <a:xfrm>
            <a:off x="6208776" y="2971800"/>
            <a:ext cx="2788920" cy="15087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33" name="Shape 26"/>
          <p:cNvSpPr/>
          <p:nvPr/>
        </p:nvSpPr>
        <p:spPr>
          <a:xfrm>
            <a:off x="6208776" y="2971800"/>
            <a:ext cx="73152" cy="1508760"/>
          </a:xfrm>
          <a:prstGeom prst="rect">
            <a:avLst/>
          </a:prstGeom>
          <a:solidFill>
            <a:srgbClr val="1E293B"/>
          </a:solidFill>
          <a:ln/>
        </p:spPr>
      </p:sp>
      <p:pic>
        <p:nvPicPr>
          <p:cNvPr id="34" name="Image 5" descr="preencoded.png"/>
          <p:cNvPicPr>
            <a:picLocks noChangeAspect="1"/>
          </p:cNvPicPr>
          <p:nvPr/>
        </p:nvPicPr>
        <p:blipFill>
          <a:blip r:embed="rId8"/>
          <a:stretch>
            <a:fillRect/>
          </a:stretch>
        </p:blipFill>
        <p:spPr>
          <a:xfrm>
            <a:off x="6391656" y="3291840"/>
            <a:ext cx="384048" cy="384048"/>
          </a:xfrm>
          <a:prstGeom prst="rect">
            <a:avLst/>
          </a:prstGeom>
        </p:spPr>
      </p:pic>
      <p:sp>
        <p:nvSpPr>
          <p:cNvPr id="35" name="Text 27"/>
          <p:cNvSpPr/>
          <p:nvPr/>
        </p:nvSpPr>
        <p:spPr>
          <a:xfrm>
            <a:off x="6867144" y="3154680"/>
            <a:ext cx="201168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Bold" pitchFamily="34" charset="0"/>
                <a:ea typeface="Calibri Bold" pitchFamily="34" charset="-122"/>
                <a:cs typeface="Calibri Bold" pitchFamily="34" charset="-120"/>
              </a:rPr>
              <a:t>Dashboard</a:t>
            </a:r>
            <a:endParaRPr lang="en-US" sz="1300" dirty="0"/>
          </a:p>
        </p:txBody>
      </p:sp>
      <p:sp>
        <p:nvSpPr>
          <p:cNvPr id="36" name="Text 28"/>
          <p:cNvSpPr/>
          <p:nvPr/>
        </p:nvSpPr>
        <p:spPr>
          <a:xfrm>
            <a:off x="6867144" y="3520440"/>
            <a:ext cx="2011680" cy="777240"/>
          </a:xfrm>
          <a:prstGeom prst="rect">
            <a:avLst/>
          </a:prstGeom>
          <a:noFill/>
          <a:ln/>
        </p:spPr>
        <p:txBody>
          <a:bodyPr wrap="square" rtlCol="0" anchor="ctr"/>
          <a:lstStyle/>
          <a:p>
            <a:pPr marL="0" indent="0">
              <a:lnSpc>
                <a:spcPct val="120000"/>
              </a:lnSpc>
              <a:buNone/>
            </a:pPr>
            <a:r>
              <a:rPr lang="en-US" sz="1000" dirty="0">
                <a:solidFill>
                  <a:srgbClr val="64748B"/>
                </a:solidFill>
                <a:latin typeface="Calibri" pitchFamily="34" charset="0"/>
                <a:ea typeface="Calibri" pitchFamily="34" charset="-122"/>
                <a:cs typeface="Calibri" pitchFamily="34" charset="-120"/>
              </a:rPr>
              <a:t>KPIs, graphiques, leaderboard commerciaux</a:t>
            </a:r>
            <a:endParaRPr lang="en-US" sz="1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59669"/>
          </a:solidFill>
          <a:ln/>
        </p:spPr>
      </p:sp>
      <p:sp>
        <p:nvSpPr>
          <p:cNvPr id="5" name="Text 3"/>
          <p:cNvSpPr/>
          <p:nvPr/>
        </p:nvSpPr>
        <p:spPr>
          <a:xfrm>
            <a:off x="8412480" y="137160"/>
            <a:ext cx="594360" cy="594360"/>
          </a:xfrm>
          <a:prstGeom prst="rect">
            <a:avLst/>
          </a:prstGeom>
          <a:noFill/>
          <a:ln/>
        </p:spPr>
        <p:txBody>
          <a:bodyPr wrap="square" lIns="0" tIns="0" rIns="0" bIns="0" rtlCol="0" anchor="ctr"/>
          <a:lstStyle/>
          <a:p>
            <a:pPr marL="0" indent="0" algn="ctr">
              <a:buNone/>
            </a:pPr>
            <a:endParaRPr lang="en-US" sz="2200" dirty="0"/>
          </a:p>
        </p:txBody>
      </p:sp>
      <p:sp>
        <p:nvSpPr>
          <p:cNvPr id="6" name="Text 4"/>
          <p:cNvSpPr/>
          <p:nvPr/>
        </p:nvSpPr>
        <p:spPr>
          <a:xfrm>
            <a:off x="320040" y="502920"/>
            <a:ext cx="8503920" cy="640080"/>
          </a:xfrm>
          <a:prstGeom prst="rect">
            <a:avLst/>
          </a:prstGeom>
          <a:noFill/>
          <a:ln/>
        </p:spPr>
        <p:txBody>
          <a:bodyPr wrap="square" lIns="0" tIns="0" rIns="0" bIns="0" rtlCol="0" anchor="ctr"/>
          <a:lstStyle/>
          <a:p>
            <a:pPr marL="0" indent="0">
              <a:buNone/>
            </a:pPr>
            <a:r>
              <a:rPr lang="en-US" sz="3000" b="1" dirty="0">
                <a:solidFill>
                  <a:srgbClr val="1E293B"/>
                </a:solidFill>
                <a:latin typeface="Calibri Bold" pitchFamily="34" charset="0"/>
                <a:ea typeface="Calibri Bold" pitchFamily="34" charset="-122"/>
                <a:cs typeface="Calibri Bold" pitchFamily="34" charset="-120"/>
              </a:rPr>
              <a:t>Rôles et accès</a:t>
            </a:r>
            <a:endParaRPr lang="en-US" sz="3000" dirty="0"/>
          </a:p>
        </p:txBody>
      </p:sp>
      <p:sp>
        <p:nvSpPr>
          <p:cNvPr id="7" name="Shape 5"/>
          <p:cNvSpPr/>
          <p:nvPr/>
        </p:nvSpPr>
        <p:spPr>
          <a:xfrm>
            <a:off x="320040" y="1234440"/>
            <a:ext cx="2788920" cy="731520"/>
          </a:xfrm>
          <a:prstGeom prst="rect">
            <a:avLst/>
          </a:prstGeom>
          <a:solidFill>
            <a:srgbClr val="F43F5E"/>
          </a:solidFill>
          <a:ln/>
        </p:spPr>
      </p:sp>
      <p:pic>
        <p:nvPicPr>
          <p:cNvPr id="8" name="Image 0" descr="preencoded.png"/>
          <p:cNvPicPr>
            <a:picLocks noChangeAspect="1"/>
          </p:cNvPicPr>
          <p:nvPr/>
        </p:nvPicPr>
        <p:blipFill>
          <a:blip r:embed="rId3"/>
          <a:stretch>
            <a:fillRect/>
          </a:stretch>
        </p:blipFill>
        <p:spPr>
          <a:xfrm>
            <a:off x="502920" y="1380744"/>
            <a:ext cx="384048" cy="384048"/>
          </a:xfrm>
          <a:prstGeom prst="rect">
            <a:avLst/>
          </a:prstGeom>
        </p:spPr>
      </p:pic>
      <p:sp>
        <p:nvSpPr>
          <p:cNvPr id="9" name="Text 6"/>
          <p:cNvSpPr/>
          <p:nvPr/>
        </p:nvSpPr>
        <p:spPr>
          <a:xfrm>
            <a:off x="960120" y="1344168"/>
            <a:ext cx="201168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Bold" pitchFamily="34" charset="0"/>
                <a:ea typeface="Calibri Bold" pitchFamily="34" charset="-122"/>
                <a:cs typeface="Calibri Bold" pitchFamily="34" charset="-120"/>
              </a:rPr>
              <a:t>Admin</a:t>
            </a:r>
            <a:endParaRPr lang="en-US" sz="1800" dirty="0"/>
          </a:p>
        </p:txBody>
      </p:sp>
      <p:sp>
        <p:nvSpPr>
          <p:cNvPr id="10" name="Shape 7"/>
          <p:cNvSpPr/>
          <p:nvPr/>
        </p:nvSpPr>
        <p:spPr>
          <a:xfrm>
            <a:off x="320040" y="1920240"/>
            <a:ext cx="2788920" cy="28803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11" name="Shape 8"/>
          <p:cNvSpPr/>
          <p:nvPr/>
        </p:nvSpPr>
        <p:spPr>
          <a:xfrm>
            <a:off x="502920" y="2084832"/>
            <a:ext cx="109728" cy="109728"/>
          </a:xfrm>
          <a:prstGeom prst="ellipse">
            <a:avLst/>
          </a:prstGeom>
          <a:solidFill>
            <a:srgbClr val="F43F5E"/>
          </a:solidFill>
          <a:ln/>
        </p:spPr>
      </p:sp>
      <p:sp>
        <p:nvSpPr>
          <p:cNvPr id="12" name="Text 9"/>
          <p:cNvSpPr/>
          <p:nvPr/>
        </p:nvSpPr>
        <p:spPr>
          <a:xfrm>
            <a:off x="685800" y="2029968"/>
            <a:ext cx="2331720"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Accès complet à tous les modules</a:t>
            </a:r>
            <a:endParaRPr lang="en-US" sz="1000" dirty="0"/>
          </a:p>
        </p:txBody>
      </p:sp>
      <p:sp>
        <p:nvSpPr>
          <p:cNvPr id="13" name="Shape 10"/>
          <p:cNvSpPr/>
          <p:nvPr/>
        </p:nvSpPr>
        <p:spPr>
          <a:xfrm>
            <a:off x="502920" y="2587752"/>
            <a:ext cx="109728" cy="109728"/>
          </a:xfrm>
          <a:prstGeom prst="ellipse">
            <a:avLst/>
          </a:prstGeom>
          <a:solidFill>
            <a:srgbClr val="F43F5E"/>
          </a:solidFill>
          <a:ln/>
        </p:spPr>
      </p:sp>
      <p:sp>
        <p:nvSpPr>
          <p:cNvPr id="14" name="Text 11"/>
          <p:cNvSpPr/>
          <p:nvPr/>
        </p:nvSpPr>
        <p:spPr>
          <a:xfrm>
            <a:off x="685800" y="2532888"/>
            <a:ext cx="2331720"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Gestion des utilisateurs et rôles</a:t>
            </a:r>
            <a:endParaRPr lang="en-US" sz="1000" dirty="0"/>
          </a:p>
        </p:txBody>
      </p:sp>
      <p:sp>
        <p:nvSpPr>
          <p:cNvPr id="15" name="Shape 12"/>
          <p:cNvSpPr/>
          <p:nvPr/>
        </p:nvSpPr>
        <p:spPr>
          <a:xfrm>
            <a:off x="502920" y="3090672"/>
            <a:ext cx="109728" cy="109728"/>
          </a:xfrm>
          <a:prstGeom prst="ellipse">
            <a:avLst/>
          </a:prstGeom>
          <a:solidFill>
            <a:srgbClr val="F43F5E"/>
          </a:solidFill>
          <a:ln/>
        </p:spPr>
      </p:sp>
      <p:sp>
        <p:nvSpPr>
          <p:cNvPr id="16" name="Text 13"/>
          <p:cNvSpPr/>
          <p:nvPr/>
        </p:nvSpPr>
        <p:spPr>
          <a:xfrm>
            <a:off x="685800" y="3035808"/>
            <a:ext cx="2331720"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Voir toutes les tâches de l'équipe</a:t>
            </a:r>
            <a:endParaRPr lang="en-US" sz="1000" dirty="0"/>
          </a:p>
        </p:txBody>
      </p:sp>
      <p:sp>
        <p:nvSpPr>
          <p:cNvPr id="17" name="Shape 14"/>
          <p:cNvSpPr/>
          <p:nvPr/>
        </p:nvSpPr>
        <p:spPr>
          <a:xfrm>
            <a:off x="502920" y="3593592"/>
            <a:ext cx="109728" cy="109728"/>
          </a:xfrm>
          <a:prstGeom prst="ellipse">
            <a:avLst/>
          </a:prstGeom>
          <a:solidFill>
            <a:srgbClr val="F43F5E"/>
          </a:solidFill>
          <a:ln/>
        </p:spPr>
      </p:sp>
      <p:sp>
        <p:nvSpPr>
          <p:cNvPr id="18" name="Text 15"/>
          <p:cNvSpPr/>
          <p:nvPr/>
        </p:nvSpPr>
        <p:spPr>
          <a:xfrm>
            <a:off x="685800" y="3538728"/>
            <a:ext cx="2331720"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Accès aux emails et campagnes</a:t>
            </a:r>
            <a:endParaRPr lang="en-US" sz="1000" dirty="0"/>
          </a:p>
        </p:txBody>
      </p:sp>
      <p:sp>
        <p:nvSpPr>
          <p:cNvPr id="20" name="Text 17"/>
          <p:cNvSpPr/>
          <p:nvPr/>
        </p:nvSpPr>
        <p:spPr>
          <a:xfrm>
            <a:off x="685800" y="4041648"/>
            <a:ext cx="2331720" cy="384048"/>
          </a:xfrm>
          <a:prstGeom prst="rect">
            <a:avLst/>
          </a:prstGeom>
          <a:noFill/>
          <a:ln/>
        </p:spPr>
        <p:txBody>
          <a:bodyPr wrap="square" rtlCol="0" anchor="ctr"/>
          <a:lstStyle/>
          <a:p>
            <a:pPr marL="0" indent="0">
              <a:buNone/>
            </a:pPr>
            <a:endParaRPr lang="en-US" sz="1000" dirty="0"/>
          </a:p>
        </p:txBody>
      </p:sp>
      <p:sp>
        <p:nvSpPr>
          <p:cNvPr id="21" name="Shape 18"/>
          <p:cNvSpPr/>
          <p:nvPr/>
        </p:nvSpPr>
        <p:spPr>
          <a:xfrm>
            <a:off x="3264408" y="1234440"/>
            <a:ext cx="2788920" cy="731520"/>
          </a:xfrm>
          <a:prstGeom prst="rect">
            <a:avLst/>
          </a:prstGeom>
          <a:solidFill>
            <a:srgbClr val="3B82F6"/>
          </a:solidFill>
          <a:ln/>
        </p:spPr>
      </p:sp>
      <p:pic>
        <p:nvPicPr>
          <p:cNvPr id="22" name="Image 1" descr="preencoded.png"/>
          <p:cNvPicPr>
            <a:picLocks noChangeAspect="1"/>
          </p:cNvPicPr>
          <p:nvPr/>
        </p:nvPicPr>
        <p:blipFill>
          <a:blip r:embed="rId4"/>
          <a:stretch>
            <a:fillRect/>
          </a:stretch>
        </p:blipFill>
        <p:spPr>
          <a:xfrm>
            <a:off x="3447288" y="1380744"/>
            <a:ext cx="384048" cy="384048"/>
          </a:xfrm>
          <a:prstGeom prst="rect">
            <a:avLst/>
          </a:prstGeom>
        </p:spPr>
      </p:pic>
      <p:sp>
        <p:nvSpPr>
          <p:cNvPr id="23" name="Text 19"/>
          <p:cNvSpPr/>
          <p:nvPr/>
        </p:nvSpPr>
        <p:spPr>
          <a:xfrm>
            <a:off x="3904488" y="1344168"/>
            <a:ext cx="201168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Bold" pitchFamily="34" charset="0"/>
                <a:ea typeface="Calibri Bold" pitchFamily="34" charset="-122"/>
                <a:cs typeface="Calibri Bold" pitchFamily="34" charset="-120"/>
              </a:rPr>
              <a:t>Commercial</a:t>
            </a:r>
            <a:endParaRPr lang="en-US" sz="1800" dirty="0"/>
          </a:p>
        </p:txBody>
      </p:sp>
      <p:sp>
        <p:nvSpPr>
          <p:cNvPr id="24" name="Shape 20"/>
          <p:cNvSpPr/>
          <p:nvPr/>
        </p:nvSpPr>
        <p:spPr>
          <a:xfrm>
            <a:off x="3264408" y="1920240"/>
            <a:ext cx="2788920" cy="28803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25" name="Shape 21"/>
          <p:cNvSpPr/>
          <p:nvPr/>
        </p:nvSpPr>
        <p:spPr>
          <a:xfrm>
            <a:off x="3447288" y="2084832"/>
            <a:ext cx="109728" cy="109728"/>
          </a:xfrm>
          <a:prstGeom prst="ellipse">
            <a:avLst/>
          </a:prstGeom>
          <a:solidFill>
            <a:srgbClr val="3B82F6"/>
          </a:solidFill>
          <a:ln/>
        </p:spPr>
      </p:sp>
      <p:sp>
        <p:nvSpPr>
          <p:cNvPr id="26" name="Text 22"/>
          <p:cNvSpPr/>
          <p:nvPr/>
        </p:nvSpPr>
        <p:spPr>
          <a:xfrm>
            <a:off x="3630168" y="2029968"/>
            <a:ext cx="2331720"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Gestion de ses propres contacts</a:t>
            </a:r>
            <a:endParaRPr lang="en-US" sz="1000" dirty="0"/>
          </a:p>
        </p:txBody>
      </p:sp>
      <p:sp>
        <p:nvSpPr>
          <p:cNvPr id="27" name="Shape 23"/>
          <p:cNvSpPr/>
          <p:nvPr/>
        </p:nvSpPr>
        <p:spPr>
          <a:xfrm>
            <a:off x="3447288" y="2587752"/>
            <a:ext cx="109728" cy="109728"/>
          </a:xfrm>
          <a:prstGeom prst="ellipse">
            <a:avLst/>
          </a:prstGeom>
          <a:solidFill>
            <a:srgbClr val="3B82F6"/>
          </a:solidFill>
          <a:ln/>
        </p:spPr>
      </p:sp>
      <p:sp>
        <p:nvSpPr>
          <p:cNvPr id="28" name="Text 24"/>
          <p:cNvSpPr/>
          <p:nvPr/>
        </p:nvSpPr>
        <p:spPr>
          <a:xfrm>
            <a:off x="3630168" y="2532888"/>
            <a:ext cx="2331720"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Création et suivi de leads/deals</a:t>
            </a:r>
            <a:endParaRPr lang="en-US" sz="1000" dirty="0"/>
          </a:p>
        </p:txBody>
      </p:sp>
      <p:sp>
        <p:nvSpPr>
          <p:cNvPr id="29" name="Shape 25"/>
          <p:cNvSpPr/>
          <p:nvPr/>
        </p:nvSpPr>
        <p:spPr>
          <a:xfrm>
            <a:off x="3447288" y="3090672"/>
            <a:ext cx="109728" cy="109728"/>
          </a:xfrm>
          <a:prstGeom prst="ellipse">
            <a:avLst/>
          </a:prstGeom>
          <a:solidFill>
            <a:srgbClr val="3B82F6"/>
          </a:solidFill>
          <a:ln/>
        </p:spPr>
      </p:sp>
      <p:sp>
        <p:nvSpPr>
          <p:cNvPr id="30" name="Text 26"/>
          <p:cNvSpPr/>
          <p:nvPr/>
        </p:nvSpPr>
        <p:spPr>
          <a:xfrm>
            <a:off x="3630168" y="3035808"/>
            <a:ext cx="2331720"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Tâches assignées à lui-même</a:t>
            </a:r>
            <a:endParaRPr lang="en-US" sz="1000" dirty="0"/>
          </a:p>
        </p:txBody>
      </p:sp>
      <p:sp>
        <p:nvSpPr>
          <p:cNvPr id="31" name="Shape 27"/>
          <p:cNvSpPr/>
          <p:nvPr/>
        </p:nvSpPr>
        <p:spPr>
          <a:xfrm>
            <a:off x="3447288" y="3593592"/>
            <a:ext cx="109728" cy="109728"/>
          </a:xfrm>
          <a:prstGeom prst="ellipse">
            <a:avLst/>
          </a:prstGeom>
          <a:solidFill>
            <a:srgbClr val="3B82F6"/>
          </a:solidFill>
          <a:ln/>
        </p:spPr>
      </p:sp>
      <p:sp>
        <p:nvSpPr>
          <p:cNvPr id="32" name="Text 28"/>
          <p:cNvSpPr/>
          <p:nvPr/>
        </p:nvSpPr>
        <p:spPr>
          <a:xfrm>
            <a:off x="3630168" y="3538728"/>
            <a:ext cx="2331720"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Accès au pipeline et dashboard</a:t>
            </a:r>
            <a:endParaRPr lang="en-US" sz="1000" dirty="0"/>
          </a:p>
        </p:txBody>
      </p:sp>
      <p:sp>
        <p:nvSpPr>
          <p:cNvPr id="33" name="Shape 29"/>
          <p:cNvSpPr/>
          <p:nvPr/>
        </p:nvSpPr>
        <p:spPr>
          <a:xfrm>
            <a:off x="3447288" y="4096512"/>
            <a:ext cx="109728" cy="109728"/>
          </a:xfrm>
          <a:prstGeom prst="ellipse">
            <a:avLst/>
          </a:prstGeom>
          <a:solidFill>
            <a:srgbClr val="3B82F6"/>
          </a:solidFill>
          <a:ln/>
        </p:spPr>
      </p:sp>
      <p:sp>
        <p:nvSpPr>
          <p:cNvPr id="34" name="Text 30"/>
          <p:cNvSpPr/>
          <p:nvPr/>
        </p:nvSpPr>
        <p:spPr>
          <a:xfrm>
            <a:off x="3630168" y="4041648"/>
            <a:ext cx="2331720"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Envoi d'emails aux contacts</a:t>
            </a:r>
            <a:endParaRPr lang="en-US" sz="1000" dirty="0"/>
          </a:p>
        </p:txBody>
      </p:sp>
      <p:sp>
        <p:nvSpPr>
          <p:cNvPr id="35" name="Shape 31"/>
          <p:cNvSpPr/>
          <p:nvPr/>
        </p:nvSpPr>
        <p:spPr>
          <a:xfrm>
            <a:off x="6208776" y="1234440"/>
            <a:ext cx="2788920" cy="731520"/>
          </a:xfrm>
          <a:prstGeom prst="rect">
            <a:avLst/>
          </a:prstGeom>
          <a:solidFill>
            <a:srgbClr val="059669"/>
          </a:solidFill>
          <a:ln/>
        </p:spPr>
      </p:sp>
      <p:pic>
        <p:nvPicPr>
          <p:cNvPr id="36" name="Image 2" descr="preencoded.png"/>
          <p:cNvPicPr>
            <a:picLocks noChangeAspect="1"/>
          </p:cNvPicPr>
          <p:nvPr/>
        </p:nvPicPr>
        <p:blipFill>
          <a:blip r:embed="rId5"/>
          <a:stretch>
            <a:fillRect/>
          </a:stretch>
        </p:blipFill>
        <p:spPr>
          <a:xfrm>
            <a:off x="6391656" y="1380744"/>
            <a:ext cx="384048" cy="384048"/>
          </a:xfrm>
          <a:prstGeom prst="rect">
            <a:avLst/>
          </a:prstGeom>
        </p:spPr>
      </p:pic>
      <p:sp>
        <p:nvSpPr>
          <p:cNvPr id="37" name="Text 32"/>
          <p:cNvSpPr/>
          <p:nvPr/>
        </p:nvSpPr>
        <p:spPr>
          <a:xfrm>
            <a:off x="6848856" y="1344168"/>
            <a:ext cx="201168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Bold" pitchFamily="34" charset="0"/>
                <a:ea typeface="Calibri Bold" pitchFamily="34" charset="-122"/>
                <a:cs typeface="Calibri Bold" pitchFamily="34" charset="-120"/>
              </a:rPr>
              <a:t>Utilisateur</a:t>
            </a:r>
            <a:endParaRPr lang="en-US" sz="1800" dirty="0"/>
          </a:p>
        </p:txBody>
      </p:sp>
      <p:sp>
        <p:nvSpPr>
          <p:cNvPr id="38" name="Shape 33"/>
          <p:cNvSpPr/>
          <p:nvPr/>
        </p:nvSpPr>
        <p:spPr>
          <a:xfrm>
            <a:off x="6208776" y="1920240"/>
            <a:ext cx="2788920" cy="288036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39" name="Shape 34"/>
          <p:cNvSpPr/>
          <p:nvPr/>
        </p:nvSpPr>
        <p:spPr>
          <a:xfrm>
            <a:off x="6391656" y="2084832"/>
            <a:ext cx="109728" cy="109728"/>
          </a:xfrm>
          <a:prstGeom prst="ellipse">
            <a:avLst/>
          </a:prstGeom>
          <a:solidFill>
            <a:srgbClr val="059669"/>
          </a:solidFill>
          <a:ln/>
        </p:spPr>
      </p:sp>
      <p:sp>
        <p:nvSpPr>
          <p:cNvPr id="40" name="Text 35"/>
          <p:cNvSpPr/>
          <p:nvPr/>
        </p:nvSpPr>
        <p:spPr>
          <a:xfrm>
            <a:off x="6574536" y="2029968"/>
            <a:ext cx="2331720"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Consultation des contacts</a:t>
            </a:r>
            <a:endParaRPr lang="en-US" sz="1000" dirty="0"/>
          </a:p>
        </p:txBody>
      </p:sp>
      <p:sp>
        <p:nvSpPr>
          <p:cNvPr id="41" name="Shape 36"/>
          <p:cNvSpPr/>
          <p:nvPr/>
        </p:nvSpPr>
        <p:spPr>
          <a:xfrm>
            <a:off x="6391656" y="2587752"/>
            <a:ext cx="109728" cy="109728"/>
          </a:xfrm>
          <a:prstGeom prst="ellipse">
            <a:avLst/>
          </a:prstGeom>
          <a:solidFill>
            <a:srgbClr val="059669"/>
          </a:solidFill>
          <a:ln/>
        </p:spPr>
      </p:sp>
      <p:sp>
        <p:nvSpPr>
          <p:cNvPr id="42" name="Text 37"/>
          <p:cNvSpPr/>
          <p:nvPr/>
        </p:nvSpPr>
        <p:spPr>
          <a:xfrm>
            <a:off x="6574536" y="2532888"/>
            <a:ext cx="2331720"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Voir ses propres tâches uniquement</a:t>
            </a:r>
            <a:endParaRPr lang="en-US" sz="1000" dirty="0"/>
          </a:p>
        </p:txBody>
      </p:sp>
      <p:sp>
        <p:nvSpPr>
          <p:cNvPr id="43" name="Shape 38"/>
          <p:cNvSpPr/>
          <p:nvPr/>
        </p:nvSpPr>
        <p:spPr>
          <a:xfrm>
            <a:off x="6391656" y="3090672"/>
            <a:ext cx="109728" cy="109728"/>
          </a:xfrm>
          <a:prstGeom prst="ellipse">
            <a:avLst/>
          </a:prstGeom>
          <a:solidFill>
            <a:srgbClr val="059669"/>
          </a:solidFill>
          <a:ln/>
        </p:spPr>
      </p:sp>
      <p:sp>
        <p:nvSpPr>
          <p:cNvPr id="44" name="Text 39"/>
          <p:cNvSpPr/>
          <p:nvPr/>
        </p:nvSpPr>
        <p:spPr>
          <a:xfrm>
            <a:off x="6574536" y="3035808"/>
            <a:ext cx="2331720"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Accès en lecture au pipeline</a:t>
            </a:r>
            <a:endParaRPr lang="en-US" sz="1000" dirty="0"/>
          </a:p>
        </p:txBody>
      </p:sp>
      <p:sp>
        <p:nvSpPr>
          <p:cNvPr id="45" name="Shape 40"/>
          <p:cNvSpPr/>
          <p:nvPr/>
        </p:nvSpPr>
        <p:spPr>
          <a:xfrm>
            <a:off x="6391656" y="3593592"/>
            <a:ext cx="109728" cy="109728"/>
          </a:xfrm>
          <a:prstGeom prst="ellipse">
            <a:avLst/>
          </a:prstGeom>
          <a:solidFill>
            <a:srgbClr val="059669"/>
          </a:solidFill>
          <a:ln/>
        </p:spPr>
      </p:sp>
      <p:sp>
        <p:nvSpPr>
          <p:cNvPr id="46" name="Text 41"/>
          <p:cNvSpPr/>
          <p:nvPr/>
        </p:nvSpPr>
        <p:spPr>
          <a:xfrm>
            <a:off x="6574536" y="3538728"/>
            <a:ext cx="2331720"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Pas d'accès admin</a:t>
            </a:r>
            <a:endParaRPr lang="en-US" sz="1000" dirty="0"/>
          </a:p>
        </p:txBody>
      </p:sp>
      <p:sp>
        <p:nvSpPr>
          <p:cNvPr id="47" name="Shape 42"/>
          <p:cNvSpPr/>
          <p:nvPr/>
        </p:nvSpPr>
        <p:spPr>
          <a:xfrm>
            <a:off x="6391656" y="4096512"/>
            <a:ext cx="109728" cy="109728"/>
          </a:xfrm>
          <a:prstGeom prst="ellipse">
            <a:avLst/>
          </a:prstGeom>
          <a:solidFill>
            <a:srgbClr val="059669"/>
          </a:solidFill>
          <a:ln/>
        </p:spPr>
      </p:sp>
      <p:sp>
        <p:nvSpPr>
          <p:cNvPr id="48" name="Text 43"/>
          <p:cNvSpPr/>
          <p:nvPr/>
        </p:nvSpPr>
        <p:spPr>
          <a:xfrm>
            <a:off x="6574536" y="4041648"/>
            <a:ext cx="2331720"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Compte géré par l'admin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9525" y="-8036"/>
            <a:ext cx="109728" cy="5143500"/>
          </a:xfrm>
          <a:prstGeom prst="rect">
            <a:avLst/>
          </a:prstGeom>
          <a:solidFill>
            <a:srgbClr val="059669"/>
          </a:solidFill>
          <a:ln/>
        </p:spPr>
      </p:sp>
      <p:sp>
        <p:nvSpPr>
          <p:cNvPr id="3" name="Text 1"/>
          <p:cNvSpPr/>
          <p:nvPr/>
        </p:nvSpPr>
        <p:spPr>
          <a:xfrm>
            <a:off x="123444" y="14859"/>
            <a:ext cx="5486400" cy="274320"/>
          </a:xfrm>
          <a:prstGeom prst="rect">
            <a:avLst/>
          </a:prstGeom>
          <a:noFill/>
          <a:ln/>
        </p:spPr>
        <p:txBody>
          <a:bodyPr wrap="square" lIns="0" tIns="0" rIns="0" bIns="0" rtlCol="0" anchor="ctr"/>
          <a:lstStyle/>
          <a:p>
            <a:pPr marL="0" indent="0">
              <a:buNone/>
            </a:pPr>
            <a:endParaRPr lang="en-US" sz="800" dirty="0"/>
          </a:p>
        </p:txBody>
      </p:sp>
      <p:sp>
        <p:nvSpPr>
          <p:cNvPr id="5" name="Text 3"/>
          <p:cNvSpPr/>
          <p:nvPr/>
        </p:nvSpPr>
        <p:spPr>
          <a:xfrm>
            <a:off x="8412480" y="137160"/>
            <a:ext cx="594360" cy="594360"/>
          </a:xfrm>
          <a:prstGeom prst="rect">
            <a:avLst/>
          </a:prstGeom>
          <a:noFill/>
          <a:ln/>
        </p:spPr>
        <p:txBody>
          <a:bodyPr wrap="square" lIns="0" tIns="0" rIns="0" bIns="0" rtlCol="0" anchor="ctr"/>
          <a:lstStyle/>
          <a:p>
            <a:pPr marL="0" indent="0" algn="ctr">
              <a:buNone/>
            </a:pPr>
            <a:endParaRPr lang="en-US" sz="2200" dirty="0"/>
          </a:p>
        </p:txBody>
      </p:sp>
      <p:sp>
        <p:nvSpPr>
          <p:cNvPr id="6" name="Text 4"/>
          <p:cNvSpPr/>
          <p:nvPr/>
        </p:nvSpPr>
        <p:spPr>
          <a:xfrm>
            <a:off x="205740" y="-150876"/>
            <a:ext cx="8503920" cy="640080"/>
          </a:xfrm>
          <a:prstGeom prst="rect">
            <a:avLst/>
          </a:prstGeom>
          <a:noFill/>
          <a:ln/>
        </p:spPr>
        <p:txBody>
          <a:bodyPr wrap="square" lIns="0" tIns="0" rIns="0" bIns="0" rtlCol="0" anchor="ctr"/>
          <a:lstStyle/>
          <a:p>
            <a:pPr marL="0" indent="0">
              <a:buNone/>
            </a:pPr>
            <a:r>
              <a:rPr lang="en-US" sz="2800" b="1" dirty="0">
                <a:solidFill>
                  <a:srgbClr val="1E293B"/>
                </a:solidFill>
                <a:latin typeface="Calibri Bold" pitchFamily="34" charset="0"/>
                <a:ea typeface="Calibri Bold" pitchFamily="34" charset="-122"/>
                <a:cs typeface="Calibri Bold" pitchFamily="34" charset="-120"/>
              </a:rPr>
              <a:t>Automatisation emails via Brevo</a:t>
            </a:r>
            <a:endParaRPr lang="en-US" sz="2800" dirty="0"/>
          </a:p>
        </p:txBody>
      </p:sp>
      <p:sp>
        <p:nvSpPr>
          <p:cNvPr id="7" name="Shape 5"/>
          <p:cNvSpPr/>
          <p:nvPr/>
        </p:nvSpPr>
        <p:spPr>
          <a:xfrm>
            <a:off x="267462" y="361188"/>
            <a:ext cx="3474720" cy="347472"/>
          </a:xfrm>
          <a:prstGeom prst="rect">
            <a:avLst/>
          </a:prstGeom>
          <a:solidFill>
            <a:srgbClr val="1E293B"/>
          </a:solidFill>
          <a:ln/>
        </p:spPr>
      </p:sp>
      <p:sp>
        <p:nvSpPr>
          <p:cNvPr id="8" name="Text 6"/>
          <p:cNvSpPr/>
          <p:nvPr/>
        </p:nvSpPr>
        <p:spPr>
          <a:xfrm>
            <a:off x="267462" y="379476"/>
            <a:ext cx="34747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Bold" pitchFamily="34" charset="0"/>
                <a:ea typeface="Calibri Bold" pitchFamily="34" charset="-122"/>
                <a:cs typeface="Calibri Bold" pitchFamily="34" charset="-120"/>
              </a:rPr>
              <a:t>Événement déclencheur</a:t>
            </a:r>
            <a:endParaRPr lang="en-US" sz="1000" dirty="0"/>
          </a:p>
        </p:txBody>
      </p:sp>
      <p:sp>
        <p:nvSpPr>
          <p:cNvPr id="9" name="Shape 7"/>
          <p:cNvSpPr/>
          <p:nvPr/>
        </p:nvSpPr>
        <p:spPr>
          <a:xfrm>
            <a:off x="5167122" y="376774"/>
            <a:ext cx="3474720" cy="347472"/>
          </a:xfrm>
          <a:prstGeom prst="rect">
            <a:avLst/>
          </a:prstGeom>
          <a:solidFill>
            <a:srgbClr val="8B5CF6"/>
          </a:solidFill>
          <a:ln/>
        </p:spPr>
      </p:sp>
      <p:sp>
        <p:nvSpPr>
          <p:cNvPr id="10" name="Text 8"/>
          <p:cNvSpPr/>
          <p:nvPr/>
        </p:nvSpPr>
        <p:spPr>
          <a:xfrm>
            <a:off x="5167122" y="376774"/>
            <a:ext cx="34747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Bold" pitchFamily="34" charset="0"/>
                <a:ea typeface="Calibri Bold" pitchFamily="34" charset="-122"/>
                <a:cs typeface="Calibri Bold" pitchFamily="34" charset="-120"/>
              </a:rPr>
              <a:t>Template Brevo envoyé</a:t>
            </a:r>
            <a:endParaRPr lang="en-US" sz="1000" dirty="0"/>
          </a:p>
        </p:txBody>
      </p:sp>
      <p:sp>
        <p:nvSpPr>
          <p:cNvPr id="11" name="Shape 9"/>
          <p:cNvSpPr/>
          <p:nvPr/>
        </p:nvSpPr>
        <p:spPr>
          <a:xfrm>
            <a:off x="270510" y="766087"/>
            <a:ext cx="3474720" cy="438912"/>
          </a:xfrm>
          <a:prstGeom prst="rect">
            <a:avLst/>
          </a:prstGeom>
          <a:solidFill>
            <a:srgbClr val="F8FAFC"/>
          </a:solidFill>
          <a:ln w="6350">
            <a:solidFill>
              <a:srgbClr val="E2E8F0"/>
            </a:solidFill>
            <a:prstDash val="solid"/>
          </a:ln>
        </p:spPr>
      </p:sp>
      <p:sp>
        <p:nvSpPr>
          <p:cNvPr id="12" name="Shape 10"/>
          <p:cNvSpPr/>
          <p:nvPr/>
        </p:nvSpPr>
        <p:spPr>
          <a:xfrm>
            <a:off x="386334" y="945261"/>
            <a:ext cx="128016" cy="128016"/>
          </a:xfrm>
          <a:prstGeom prst="ellipse">
            <a:avLst/>
          </a:prstGeom>
          <a:solidFill>
            <a:srgbClr val="059669"/>
          </a:solidFill>
          <a:ln/>
        </p:spPr>
      </p:sp>
      <p:sp>
        <p:nvSpPr>
          <p:cNvPr id="13" name="Text 11"/>
          <p:cNvSpPr/>
          <p:nvPr/>
        </p:nvSpPr>
        <p:spPr>
          <a:xfrm>
            <a:off x="496062" y="664880"/>
            <a:ext cx="3017520" cy="702079"/>
          </a:xfrm>
          <a:prstGeom prst="rect">
            <a:avLst/>
          </a:prstGeom>
          <a:noFill/>
          <a:ln/>
        </p:spPr>
        <p:txBody>
          <a:bodyPr wrap="square" rtlCol="0" anchor="ctr"/>
          <a:lstStyle/>
          <a:p>
            <a:r>
              <a:rPr lang="en-US" sz="1050" b="1" dirty="0" smtClean="0"/>
              <a:t>  Nouveau </a:t>
            </a:r>
            <a:r>
              <a:rPr lang="en-US" sz="1050" b="1" dirty="0" err="1" smtClean="0"/>
              <a:t>compte</a:t>
            </a:r>
            <a:r>
              <a:rPr lang="en-US" sz="1050" b="1" dirty="0" smtClean="0"/>
              <a:t> </a:t>
            </a:r>
            <a:r>
              <a:rPr lang="en-US" sz="1050" b="1" dirty="0" err="1" smtClean="0"/>
              <a:t>créé</a:t>
            </a:r>
            <a:endParaRPr lang="en-US" sz="1050" b="1" dirty="0"/>
          </a:p>
        </p:txBody>
      </p:sp>
      <p:sp>
        <p:nvSpPr>
          <p:cNvPr id="14" name="Text 12"/>
          <p:cNvSpPr/>
          <p:nvPr/>
        </p:nvSpPr>
        <p:spPr>
          <a:xfrm>
            <a:off x="3745230" y="2288096"/>
            <a:ext cx="1508760" cy="347472"/>
          </a:xfrm>
          <a:prstGeom prst="rect">
            <a:avLst/>
          </a:prstGeom>
          <a:noFill/>
          <a:ln/>
        </p:spPr>
        <p:txBody>
          <a:bodyPr wrap="square" lIns="0" tIns="0" rIns="0" bIns="0" rtlCol="0" anchor="ctr"/>
          <a:lstStyle/>
          <a:p>
            <a:pPr marL="0" indent="0" algn="ctr">
              <a:buNone/>
            </a:pPr>
            <a:r>
              <a:rPr lang="en-US" sz="1600" dirty="0">
                <a:solidFill>
                  <a:srgbClr val="059669"/>
                </a:solidFill>
              </a:rPr>
              <a:t>→</a:t>
            </a:r>
            <a:endParaRPr lang="en-US" sz="1600" dirty="0"/>
          </a:p>
        </p:txBody>
      </p:sp>
      <p:sp>
        <p:nvSpPr>
          <p:cNvPr id="15" name="Text 13"/>
          <p:cNvSpPr/>
          <p:nvPr/>
        </p:nvSpPr>
        <p:spPr>
          <a:xfrm>
            <a:off x="3740277" y="2604967"/>
            <a:ext cx="1508760" cy="182880"/>
          </a:xfrm>
          <a:prstGeom prst="rect">
            <a:avLst/>
          </a:prstGeom>
          <a:noFill/>
          <a:ln/>
        </p:spPr>
        <p:txBody>
          <a:bodyPr wrap="square" lIns="0" tIns="0" rIns="0" bIns="0" rtlCol="0" anchor="ctr"/>
          <a:lstStyle/>
          <a:p>
            <a:pPr marL="0" indent="0" algn="ctr">
              <a:buNone/>
            </a:pPr>
            <a:r>
              <a:rPr lang="en-US" sz="750" dirty="0">
                <a:solidFill>
                  <a:srgbClr val="64748B"/>
                </a:solidFill>
              </a:rPr>
              <a:t>API Brevo</a:t>
            </a:r>
            <a:endParaRPr lang="en-US" sz="750" dirty="0"/>
          </a:p>
        </p:txBody>
      </p:sp>
      <p:sp>
        <p:nvSpPr>
          <p:cNvPr id="16" name="Shape 14"/>
          <p:cNvSpPr/>
          <p:nvPr/>
        </p:nvSpPr>
        <p:spPr>
          <a:xfrm>
            <a:off x="5167122" y="757082"/>
            <a:ext cx="3474720" cy="438912"/>
          </a:xfrm>
          <a:prstGeom prst="rect">
            <a:avLst/>
          </a:prstGeom>
          <a:solidFill>
            <a:srgbClr val="F8FAFC"/>
          </a:solidFill>
          <a:ln w="10160">
            <a:solidFill>
              <a:srgbClr val="059669"/>
            </a:solidFill>
            <a:prstDash val="solid"/>
          </a:ln>
        </p:spPr>
      </p:sp>
      <p:sp>
        <p:nvSpPr>
          <p:cNvPr id="17" name="Text 15"/>
          <p:cNvSpPr/>
          <p:nvPr/>
        </p:nvSpPr>
        <p:spPr>
          <a:xfrm>
            <a:off x="5292090" y="796254"/>
            <a:ext cx="3291840" cy="438912"/>
          </a:xfrm>
          <a:prstGeom prst="rect">
            <a:avLst/>
          </a:prstGeom>
          <a:noFill/>
          <a:ln/>
        </p:spPr>
        <p:txBody>
          <a:bodyPr wrap="square"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Email de bienvenue</a:t>
            </a:r>
            <a:endParaRPr lang="en-US" sz="1050" dirty="0"/>
          </a:p>
        </p:txBody>
      </p:sp>
      <p:sp>
        <p:nvSpPr>
          <p:cNvPr id="18" name="Shape 16"/>
          <p:cNvSpPr/>
          <p:nvPr/>
        </p:nvSpPr>
        <p:spPr>
          <a:xfrm>
            <a:off x="267462" y="1261872"/>
            <a:ext cx="3474720" cy="438912"/>
          </a:xfrm>
          <a:prstGeom prst="rect">
            <a:avLst/>
          </a:prstGeom>
          <a:solidFill>
            <a:srgbClr val="F8FAFC"/>
          </a:solidFill>
          <a:ln w="6350">
            <a:solidFill>
              <a:srgbClr val="E2E8F0"/>
            </a:solidFill>
            <a:prstDash val="solid"/>
          </a:ln>
        </p:spPr>
      </p:sp>
      <p:sp>
        <p:nvSpPr>
          <p:cNvPr id="19" name="Shape 17"/>
          <p:cNvSpPr/>
          <p:nvPr/>
        </p:nvSpPr>
        <p:spPr>
          <a:xfrm>
            <a:off x="358902" y="1436855"/>
            <a:ext cx="128016" cy="128016"/>
          </a:xfrm>
          <a:prstGeom prst="ellipse">
            <a:avLst/>
          </a:prstGeom>
          <a:solidFill>
            <a:srgbClr val="3B82F6"/>
          </a:solidFill>
          <a:ln/>
        </p:spPr>
      </p:sp>
      <p:sp>
        <p:nvSpPr>
          <p:cNvPr id="20" name="Text 18"/>
          <p:cNvSpPr/>
          <p:nvPr/>
        </p:nvSpPr>
        <p:spPr>
          <a:xfrm>
            <a:off x="578358" y="1281407"/>
            <a:ext cx="3017520" cy="438912"/>
          </a:xfrm>
          <a:prstGeom prst="rect">
            <a:avLst/>
          </a:prstGeom>
          <a:noFill/>
          <a:ln/>
        </p:spPr>
        <p:txBody>
          <a:bodyPr wrap="square" rtlCol="0" anchor="ctr"/>
          <a:lstStyle/>
          <a:p>
            <a:r>
              <a:rPr lang="en-US" sz="1050" b="1" dirty="0"/>
              <a:t>Deal passé au </a:t>
            </a:r>
            <a:r>
              <a:rPr lang="en-US" sz="1050" b="1" dirty="0" err="1"/>
              <a:t>statut</a:t>
            </a:r>
            <a:r>
              <a:rPr lang="en-US" sz="1050" b="1" dirty="0"/>
              <a:t> </a:t>
            </a:r>
            <a:r>
              <a:rPr lang="en-US" sz="1050" b="1" dirty="0" err="1"/>
              <a:t>Gagné</a:t>
            </a:r>
            <a:endParaRPr lang="en-US" sz="1050" b="1" dirty="0"/>
          </a:p>
        </p:txBody>
      </p:sp>
      <p:sp>
        <p:nvSpPr>
          <p:cNvPr id="23" name="Shape 21"/>
          <p:cNvSpPr/>
          <p:nvPr/>
        </p:nvSpPr>
        <p:spPr>
          <a:xfrm>
            <a:off x="5167122" y="1268002"/>
            <a:ext cx="3474720" cy="438912"/>
          </a:xfrm>
          <a:prstGeom prst="rect">
            <a:avLst/>
          </a:prstGeom>
          <a:solidFill>
            <a:srgbClr val="F8FAFC"/>
          </a:solidFill>
          <a:ln w="10160">
            <a:solidFill>
              <a:srgbClr val="3B82F6"/>
            </a:solidFill>
            <a:prstDash val="solid"/>
          </a:ln>
        </p:spPr>
      </p:sp>
      <p:sp>
        <p:nvSpPr>
          <p:cNvPr id="24" name="Text 22"/>
          <p:cNvSpPr/>
          <p:nvPr/>
        </p:nvSpPr>
        <p:spPr>
          <a:xfrm>
            <a:off x="5258562" y="1268002"/>
            <a:ext cx="3291840" cy="438912"/>
          </a:xfrm>
          <a:prstGeom prst="rect">
            <a:avLst/>
          </a:prstGeom>
          <a:noFill/>
          <a:ln/>
        </p:spPr>
        <p:txBody>
          <a:bodyPr wrap="square"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Email de confirmation</a:t>
            </a:r>
            <a:endParaRPr lang="en-US" sz="1050" dirty="0"/>
          </a:p>
        </p:txBody>
      </p:sp>
      <p:sp>
        <p:nvSpPr>
          <p:cNvPr id="25" name="Shape 23"/>
          <p:cNvSpPr/>
          <p:nvPr/>
        </p:nvSpPr>
        <p:spPr>
          <a:xfrm>
            <a:off x="256032" y="1759631"/>
            <a:ext cx="3474720" cy="438912"/>
          </a:xfrm>
          <a:prstGeom prst="rect">
            <a:avLst/>
          </a:prstGeom>
          <a:solidFill>
            <a:srgbClr val="F8FAFC"/>
          </a:solidFill>
          <a:ln w="6350">
            <a:solidFill>
              <a:srgbClr val="E2E8F0"/>
            </a:solidFill>
            <a:prstDash val="solid"/>
          </a:ln>
        </p:spPr>
      </p:sp>
      <p:sp>
        <p:nvSpPr>
          <p:cNvPr id="26" name="Shape 24"/>
          <p:cNvSpPr/>
          <p:nvPr/>
        </p:nvSpPr>
        <p:spPr>
          <a:xfrm>
            <a:off x="374904" y="1915079"/>
            <a:ext cx="128016" cy="128016"/>
          </a:xfrm>
          <a:prstGeom prst="ellipse">
            <a:avLst/>
          </a:prstGeom>
          <a:solidFill>
            <a:srgbClr val="8B5CF6"/>
          </a:solidFill>
          <a:ln/>
        </p:spPr>
      </p:sp>
      <p:sp>
        <p:nvSpPr>
          <p:cNvPr id="27" name="Text 25"/>
          <p:cNvSpPr/>
          <p:nvPr/>
        </p:nvSpPr>
        <p:spPr>
          <a:xfrm>
            <a:off x="594360" y="1759631"/>
            <a:ext cx="3017520" cy="438912"/>
          </a:xfrm>
          <a:prstGeom prst="rect">
            <a:avLst/>
          </a:prstGeom>
          <a:noFill/>
          <a:ln/>
        </p:spPr>
        <p:txBody>
          <a:bodyPr wrap="square" rtlCol="0" anchor="ctr"/>
          <a:lstStyle/>
          <a:p>
            <a:r>
              <a:rPr lang="en-US" sz="1050" b="1" dirty="0"/>
              <a:t>Lead </a:t>
            </a:r>
            <a:r>
              <a:rPr lang="en-US" sz="1050" b="1" dirty="0" err="1"/>
              <a:t>assigné</a:t>
            </a:r>
            <a:r>
              <a:rPr lang="en-US" sz="1050" b="1" dirty="0"/>
              <a:t> à un commercial</a:t>
            </a:r>
          </a:p>
        </p:txBody>
      </p:sp>
      <p:sp>
        <p:nvSpPr>
          <p:cNvPr id="28" name="Text 26"/>
          <p:cNvSpPr/>
          <p:nvPr/>
        </p:nvSpPr>
        <p:spPr>
          <a:xfrm>
            <a:off x="3822192" y="2871216"/>
            <a:ext cx="1508760" cy="347472"/>
          </a:xfrm>
          <a:prstGeom prst="rect">
            <a:avLst/>
          </a:prstGeom>
          <a:noFill/>
          <a:ln/>
        </p:spPr>
        <p:txBody>
          <a:bodyPr wrap="square" lIns="0" tIns="0" rIns="0" bIns="0" rtlCol="0" anchor="ctr"/>
          <a:lstStyle/>
          <a:p>
            <a:pPr marL="0" indent="0" algn="ctr">
              <a:buNone/>
            </a:pPr>
            <a:endParaRPr lang="en-US" sz="1600" dirty="0"/>
          </a:p>
        </p:txBody>
      </p:sp>
      <p:sp>
        <p:nvSpPr>
          <p:cNvPr id="30" name="Shape 28"/>
          <p:cNvSpPr/>
          <p:nvPr/>
        </p:nvSpPr>
        <p:spPr>
          <a:xfrm>
            <a:off x="5167122" y="1757518"/>
            <a:ext cx="3474720" cy="438912"/>
          </a:xfrm>
          <a:prstGeom prst="rect">
            <a:avLst/>
          </a:prstGeom>
          <a:solidFill>
            <a:srgbClr val="F8FAFC"/>
          </a:solidFill>
          <a:ln w="10160">
            <a:solidFill>
              <a:srgbClr val="8B5CF6"/>
            </a:solidFill>
            <a:prstDash val="solid"/>
          </a:ln>
        </p:spPr>
      </p:sp>
      <p:sp>
        <p:nvSpPr>
          <p:cNvPr id="31" name="Text 29"/>
          <p:cNvSpPr/>
          <p:nvPr/>
        </p:nvSpPr>
        <p:spPr>
          <a:xfrm>
            <a:off x="5258562" y="1757518"/>
            <a:ext cx="3291840" cy="438912"/>
          </a:xfrm>
          <a:prstGeom prst="rect">
            <a:avLst/>
          </a:prstGeom>
          <a:noFill/>
          <a:ln/>
        </p:spPr>
        <p:txBody>
          <a:bodyPr wrap="square" rtlCol="0" anchor="ctr"/>
          <a:lstStyle/>
          <a:p>
            <a:pPr marL="0" indent="0">
              <a:buNone/>
            </a:pPr>
            <a:r>
              <a:rPr lang="en-US" sz="1050" b="1" dirty="0" smtClean="0">
                <a:solidFill>
                  <a:srgbClr val="1E293B"/>
                </a:solidFill>
                <a:latin typeface="Calibri" pitchFamily="34" charset="0"/>
                <a:cs typeface="Calibri" pitchFamily="34" charset="-120"/>
              </a:rPr>
              <a:t>Email nouveau lead</a:t>
            </a:r>
            <a:endParaRPr lang="en-US" sz="1050" dirty="0"/>
          </a:p>
        </p:txBody>
      </p:sp>
      <p:sp>
        <p:nvSpPr>
          <p:cNvPr id="32" name="Shape 30"/>
          <p:cNvSpPr/>
          <p:nvPr/>
        </p:nvSpPr>
        <p:spPr>
          <a:xfrm>
            <a:off x="238887" y="2280250"/>
            <a:ext cx="3474720" cy="438912"/>
          </a:xfrm>
          <a:prstGeom prst="rect">
            <a:avLst/>
          </a:prstGeom>
          <a:solidFill>
            <a:srgbClr val="F8FAFC"/>
          </a:solidFill>
          <a:ln w="6350">
            <a:solidFill>
              <a:srgbClr val="E2E8F0"/>
            </a:solidFill>
            <a:prstDash val="solid"/>
          </a:ln>
        </p:spPr>
      </p:sp>
      <p:sp>
        <p:nvSpPr>
          <p:cNvPr id="33" name="Shape 31"/>
          <p:cNvSpPr/>
          <p:nvPr/>
        </p:nvSpPr>
        <p:spPr>
          <a:xfrm>
            <a:off x="357759" y="2435698"/>
            <a:ext cx="128016" cy="128016"/>
          </a:xfrm>
          <a:prstGeom prst="ellipse">
            <a:avLst/>
          </a:prstGeom>
          <a:solidFill>
            <a:srgbClr val="F43F5E"/>
          </a:solidFill>
          <a:ln/>
        </p:spPr>
      </p:sp>
      <p:sp>
        <p:nvSpPr>
          <p:cNvPr id="34" name="Text 32"/>
          <p:cNvSpPr/>
          <p:nvPr/>
        </p:nvSpPr>
        <p:spPr>
          <a:xfrm>
            <a:off x="577215" y="2280250"/>
            <a:ext cx="3017520" cy="438912"/>
          </a:xfrm>
          <a:prstGeom prst="rect">
            <a:avLst/>
          </a:prstGeom>
          <a:noFill/>
          <a:ln/>
        </p:spPr>
        <p:txBody>
          <a:bodyPr wrap="square" rtlCol="0" anchor="ctr"/>
          <a:lstStyle/>
          <a:p>
            <a:r>
              <a:rPr lang="en-US" sz="1050" b="1" dirty="0"/>
              <a:t>Nouvelle </a:t>
            </a:r>
            <a:r>
              <a:rPr lang="en-US" sz="1050" b="1" dirty="0" err="1"/>
              <a:t>tâche</a:t>
            </a:r>
            <a:r>
              <a:rPr lang="en-US" sz="1050" b="1" dirty="0"/>
              <a:t> </a:t>
            </a:r>
            <a:r>
              <a:rPr lang="en-US" sz="1050" b="1" dirty="0" err="1"/>
              <a:t>assignée</a:t>
            </a:r>
            <a:endParaRPr lang="en-US" sz="1050" b="1" dirty="0"/>
          </a:p>
        </p:txBody>
      </p:sp>
      <p:sp>
        <p:nvSpPr>
          <p:cNvPr id="35" name="Text 33"/>
          <p:cNvSpPr/>
          <p:nvPr/>
        </p:nvSpPr>
        <p:spPr>
          <a:xfrm>
            <a:off x="3822192" y="3438144"/>
            <a:ext cx="1508760" cy="347472"/>
          </a:xfrm>
          <a:prstGeom prst="rect">
            <a:avLst/>
          </a:prstGeom>
          <a:noFill/>
          <a:ln/>
        </p:spPr>
        <p:txBody>
          <a:bodyPr wrap="square" lIns="0" tIns="0" rIns="0" bIns="0" rtlCol="0" anchor="ctr"/>
          <a:lstStyle/>
          <a:p>
            <a:pPr marL="0" indent="0" algn="ctr">
              <a:buNone/>
            </a:pPr>
            <a:endParaRPr lang="en-US" sz="1600" dirty="0"/>
          </a:p>
        </p:txBody>
      </p:sp>
      <p:sp>
        <p:nvSpPr>
          <p:cNvPr id="36" name="Text 34"/>
          <p:cNvSpPr/>
          <p:nvPr/>
        </p:nvSpPr>
        <p:spPr>
          <a:xfrm>
            <a:off x="3822192" y="3648456"/>
            <a:ext cx="1508760" cy="182880"/>
          </a:xfrm>
          <a:prstGeom prst="rect">
            <a:avLst/>
          </a:prstGeom>
          <a:noFill/>
          <a:ln/>
        </p:spPr>
        <p:txBody>
          <a:bodyPr wrap="square" lIns="0" tIns="0" rIns="0" bIns="0" rtlCol="0" anchor="ctr"/>
          <a:lstStyle/>
          <a:p>
            <a:pPr marL="0" indent="0" algn="ctr">
              <a:buNone/>
            </a:pPr>
            <a:endParaRPr lang="en-US" sz="750" dirty="0"/>
          </a:p>
        </p:txBody>
      </p:sp>
      <p:sp>
        <p:nvSpPr>
          <p:cNvPr id="37" name="Shape 35"/>
          <p:cNvSpPr/>
          <p:nvPr/>
        </p:nvSpPr>
        <p:spPr>
          <a:xfrm>
            <a:off x="5167122" y="2258568"/>
            <a:ext cx="3474720" cy="438912"/>
          </a:xfrm>
          <a:prstGeom prst="rect">
            <a:avLst/>
          </a:prstGeom>
          <a:solidFill>
            <a:srgbClr val="F8FAFC"/>
          </a:solidFill>
          <a:ln w="10160">
            <a:solidFill>
              <a:srgbClr val="F43F5E"/>
            </a:solidFill>
            <a:prstDash val="solid"/>
          </a:ln>
        </p:spPr>
      </p:sp>
      <p:sp>
        <p:nvSpPr>
          <p:cNvPr id="38" name="Text 36"/>
          <p:cNvSpPr/>
          <p:nvPr/>
        </p:nvSpPr>
        <p:spPr>
          <a:xfrm>
            <a:off x="5258562" y="2258568"/>
            <a:ext cx="3291840" cy="438912"/>
          </a:xfrm>
          <a:prstGeom prst="rect">
            <a:avLst/>
          </a:prstGeom>
          <a:noFill/>
          <a:ln/>
        </p:spPr>
        <p:txBody>
          <a:bodyPr wrap="square" rtlCol="0" anchor="ctr"/>
          <a:lstStyle/>
          <a:p>
            <a:pPr marL="0" indent="0">
              <a:buNone/>
            </a:pPr>
            <a:r>
              <a:rPr lang="en-US" sz="1050" b="1" dirty="0" smtClean="0">
                <a:solidFill>
                  <a:srgbClr val="1E293B"/>
                </a:solidFill>
                <a:latin typeface="Calibri" pitchFamily="34" charset="0"/>
                <a:cs typeface="Calibri" pitchFamily="34" charset="-120"/>
              </a:rPr>
              <a:t>Notification assignation</a:t>
            </a:r>
            <a:endParaRPr lang="en-US" sz="1050" dirty="0"/>
          </a:p>
        </p:txBody>
      </p:sp>
      <p:sp>
        <p:nvSpPr>
          <p:cNvPr id="39" name="Shape 37"/>
          <p:cNvSpPr/>
          <p:nvPr/>
        </p:nvSpPr>
        <p:spPr>
          <a:xfrm>
            <a:off x="238887" y="2779776"/>
            <a:ext cx="3474720" cy="438912"/>
          </a:xfrm>
          <a:prstGeom prst="rect">
            <a:avLst/>
          </a:prstGeom>
          <a:solidFill>
            <a:srgbClr val="F8FAFC"/>
          </a:solidFill>
          <a:ln w="6350">
            <a:solidFill>
              <a:srgbClr val="E2E8F0"/>
            </a:solidFill>
            <a:prstDash val="solid"/>
          </a:ln>
        </p:spPr>
      </p:sp>
      <p:sp>
        <p:nvSpPr>
          <p:cNvPr id="40" name="Shape 38"/>
          <p:cNvSpPr/>
          <p:nvPr/>
        </p:nvSpPr>
        <p:spPr>
          <a:xfrm>
            <a:off x="357759" y="2935224"/>
            <a:ext cx="128016" cy="128016"/>
          </a:xfrm>
          <a:prstGeom prst="ellipse">
            <a:avLst/>
          </a:prstGeom>
          <a:solidFill>
            <a:srgbClr val="F59E0B"/>
          </a:solidFill>
          <a:ln/>
        </p:spPr>
      </p:sp>
      <p:sp>
        <p:nvSpPr>
          <p:cNvPr id="41" name="Text 39"/>
          <p:cNvSpPr/>
          <p:nvPr/>
        </p:nvSpPr>
        <p:spPr>
          <a:xfrm>
            <a:off x="577215" y="2779776"/>
            <a:ext cx="3017520" cy="438912"/>
          </a:xfrm>
          <a:prstGeom prst="rect">
            <a:avLst/>
          </a:prstGeom>
          <a:noFill/>
          <a:ln/>
        </p:spPr>
        <p:txBody>
          <a:bodyPr wrap="square" rtlCol="0" anchor="ctr"/>
          <a:lstStyle/>
          <a:p>
            <a:r>
              <a:rPr lang="en-US" sz="1050" b="1" dirty="0" err="1"/>
              <a:t>Demande</a:t>
            </a:r>
            <a:r>
              <a:rPr lang="en-US" sz="1050" b="1" dirty="0"/>
              <a:t> </a:t>
            </a:r>
            <a:r>
              <a:rPr lang="en-US" sz="1050" b="1" dirty="0" err="1"/>
              <a:t>réinitialisation</a:t>
            </a:r>
            <a:r>
              <a:rPr lang="en-US" sz="1050" b="1" dirty="0"/>
              <a:t> </a:t>
            </a:r>
            <a:r>
              <a:rPr lang="en-US" sz="1050" b="1" dirty="0" smtClean="0"/>
              <a:t>mot de </a:t>
            </a:r>
            <a:r>
              <a:rPr lang="en-US" sz="1050" b="1" dirty="0" err="1" smtClean="0"/>
              <a:t>passe</a:t>
            </a:r>
            <a:endParaRPr lang="en-US" sz="1050" b="1" dirty="0"/>
          </a:p>
        </p:txBody>
      </p:sp>
      <p:sp>
        <p:nvSpPr>
          <p:cNvPr id="42" name="Text 40"/>
          <p:cNvSpPr/>
          <p:nvPr/>
        </p:nvSpPr>
        <p:spPr>
          <a:xfrm>
            <a:off x="3822192" y="4005072"/>
            <a:ext cx="1508760" cy="347472"/>
          </a:xfrm>
          <a:prstGeom prst="rect">
            <a:avLst/>
          </a:prstGeom>
          <a:noFill/>
          <a:ln/>
        </p:spPr>
        <p:txBody>
          <a:bodyPr wrap="square" lIns="0" tIns="0" rIns="0" bIns="0" rtlCol="0" anchor="ctr"/>
          <a:lstStyle/>
          <a:p>
            <a:pPr marL="0" indent="0" algn="ctr">
              <a:buNone/>
            </a:pPr>
            <a:endParaRPr lang="en-US" sz="1600" dirty="0"/>
          </a:p>
        </p:txBody>
      </p:sp>
      <p:sp>
        <p:nvSpPr>
          <p:cNvPr id="43" name="Text 41"/>
          <p:cNvSpPr/>
          <p:nvPr/>
        </p:nvSpPr>
        <p:spPr>
          <a:xfrm>
            <a:off x="3822192" y="4215384"/>
            <a:ext cx="1508760" cy="182880"/>
          </a:xfrm>
          <a:prstGeom prst="rect">
            <a:avLst/>
          </a:prstGeom>
          <a:noFill/>
          <a:ln/>
        </p:spPr>
        <p:txBody>
          <a:bodyPr wrap="square" lIns="0" tIns="0" rIns="0" bIns="0" rtlCol="0" anchor="ctr"/>
          <a:lstStyle/>
          <a:p>
            <a:pPr marL="0" indent="0" algn="ctr">
              <a:buNone/>
            </a:pPr>
            <a:endParaRPr lang="en-US" sz="750" dirty="0"/>
          </a:p>
        </p:txBody>
      </p:sp>
      <p:sp>
        <p:nvSpPr>
          <p:cNvPr id="44" name="Shape 42"/>
          <p:cNvSpPr/>
          <p:nvPr/>
        </p:nvSpPr>
        <p:spPr>
          <a:xfrm>
            <a:off x="5167122" y="2758319"/>
            <a:ext cx="3474720" cy="438912"/>
          </a:xfrm>
          <a:prstGeom prst="rect">
            <a:avLst/>
          </a:prstGeom>
          <a:solidFill>
            <a:srgbClr val="F8FAFC"/>
          </a:solidFill>
          <a:ln w="10160">
            <a:solidFill>
              <a:srgbClr val="F59E0B"/>
            </a:solidFill>
            <a:prstDash val="solid"/>
          </a:ln>
        </p:spPr>
        <p:txBody>
          <a:bodyPr/>
          <a:lstStyle/>
          <a:p>
            <a:r>
              <a:rPr lang="fr-FR" sz="1050" b="1" dirty="0" smtClean="0"/>
              <a:t>Reset mot de passe</a:t>
            </a:r>
            <a:endParaRPr lang="fr-FR" sz="1050" b="1" dirty="0"/>
          </a:p>
        </p:txBody>
      </p:sp>
      <p:sp>
        <p:nvSpPr>
          <p:cNvPr id="45" name="Text 43"/>
          <p:cNvSpPr/>
          <p:nvPr/>
        </p:nvSpPr>
        <p:spPr>
          <a:xfrm>
            <a:off x="5258562" y="2758319"/>
            <a:ext cx="3291840" cy="438912"/>
          </a:xfrm>
          <a:prstGeom prst="rect">
            <a:avLst/>
          </a:prstGeom>
          <a:noFill/>
          <a:ln/>
        </p:spPr>
        <p:txBody>
          <a:bodyPr wrap="square" rtlCol="0" anchor="ctr"/>
          <a:lstStyle/>
          <a:p>
            <a:pPr marL="0" indent="0">
              <a:buNone/>
            </a:pPr>
            <a:endParaRPr lang="en-US" sz="1050" dirty="0"/>
          </a:p>
        </p:txBody>
      </p:sp>
      <p:sp>
        <p:nvSpPr>
          <p:cNvPr id="47" name="Text 45"/>
          <p:cNvSpPr/>
          <p:nvPr/>
        </p:nvSpPr>
        <p:spPr>
          <a:xfrm>
            <a:off x="2672715" y="4769428"/>
            <a:ext cx="8503920" cy="320040"/>
          </a:xfrm>
          <a:prstGeom prst="rect">
            <a:avLst/>
          </a:prstGeom>
          <a:noFill/>
          <a:ln/>
        </p:spPr>
        <p:txBody>
          <a:bodyPr wrap="square" lIns="0" tIns="0" rIns="0" bIns="0" rtlCol="0" anchor="ctr"/>
          <a:lstStyle/>
          <a:p>
            <a:pPr algn="ctr"/>
            <a:endParaRPr lang="en-US" sz="1050" b="1" dirty="0"/>
          </a:p>
        </p:txBody>
      </p:sp>
      <p:sp>
        <p:nvSpPr>
          <p:cNvPr id="46" name="Shape 37"/>
          <p:cNvSpPr/>
          <p:nvPr/>
        </p:nvSpPr>
        <p:spPr>
          <a:xfrm>
            <a:off x="238887" y="3292429"/>
            <a:ext cx="3474720" cy="438912"/>
          </a:xfrm>
          <a:prstGeom prst="rect">
            <a:avLst/>
          </a:prstGeom>
          <a:solidFill>
            <a:srgbClr val="F8FAFC"/>
          </a:solidFill>
          <a:ln w="6350">
            <a:solidFill>
              <a:srgbClr val="E2E8F0"/>
            </a:solidFill>
            <a:prstDash val="solid"/>
          </a:ln>
        </p:spPr>
      </p:sp>
      <p:sp>
        <p:nvSpPr>
          <p:cNvPr id="48" name="Shape 37"/>
          <p:cNvSpPr/>
          <p:nvPr/>
        </p:nvSpPr>
        <p:spPr>
          <a:xfrm>
            <a:off x="225171" y="3799332"/>
            <a:ext cx="3474720" cy="438912"/>
          </a:xfrm>
          <a:prstGeom prst="rect">
            <a:avLst/>
          </a:prstGeom>
          <a:solidFill>
            <a:srgbClr val="F8FAFC"/>
          </a:solidFill>
          <a:ln w="6350">
            <a:solidFill>
              <a:srgbClr val="E2E8F0"/>
            </a:solidFill>
            <a:prstDash val="solid"/>
          </a:ln>
        </p:spPr>
      </p:sp>
      <p:sp>
        <p:nvSpPr>
          <p:cNvPr id="4" name="ZoneTexte 3"/>
          <p:cNvSpPr txBox="1"/>
          <p:nvPr/>
        </p:nvSpPr>
        <p:spPr>
          <a:xfrm>
            <a:off x="563880" y="3383869"/>
            <a:ext cx="2343912" cy="415498"/>
          </a:xfrm>
          <a:prstGeom prst="rect">
            <a:avLst/>
          </a:prstGeom>
          <a:noFill/>
        </p:spPr>
        <p:txBody>
          <a:bodyPr wrap="square" rtlCol="0">
            <a:spAutoFit/>
          </a:bodyPr>
          <a:lstStyle/>
          <a:p>
            <a:r>
              <a:rPr lang="en-US" sz="1050" b="1" dirty="0" err="1"/>
              <a:t>Changement</a:t>
            </a:r>
            <a:r>
              <a:rPr lang="en-US" sz="1050" b="1" dirty="0"/>
              <a:t> de </a:t>
            </a:r>
            <a:r>
              <a:rPr lang="en-US" sz="1050" b="1" dirty="0" err="1"/>
              <a:t>rôle</a:t>
            </a:r>
            <a:r>
              <a:rPr lang="en-US" sz="1050" b="1" dirty="0"/>
              <a:t> (admin)</a:t>
            </a:r>
          </a:p>
          <a:p>
            <a:endParaRPr lang="fr-FR" sz="1050" b="1" dirty="0"/>
          </a:p>
        </p:txBody>
      </p:sp>
      <p:sp>
        <p:nvSpPr>
          <p:cNvPr id="50" name="ZoneTexte 49"/>
          <p:cNvSpPr txBox="1"/>
          <p:nvPr/>
        </p:nvSpPr>
        <p:spPr>
          <a:xfrm>
            <a:off x="605790" y="3870115"/>
            <a:ext cx="2343912" cy="253916"/>
          </a:xfrm>
          <a:prstGeom prst="rect">
            <a:avLst/>
          </a:prstGeom>
          <a:noFill/>
        </p:spPr>
        <p:txBody>
          <a:bodyPr wrap="square" rtlCol="0">
            <a:spAutoFit/>
          </a:bodyPr>
          <a:lstStyle/>
          <a:p>
            <a:r>
              <a:rPr lang="fr-FR" sz="1050" b="1" dirty="0"/>
              <a:t>Envoi manuel entre utilisateurs</a:t>
            </a:r>
          </a:p>
        </p:txBody>
      </p:sp>
      <p:sp>
        <p:nvSpPr>
          <p:cNvPr id="51" name="Shape 37"/>
          <p:cNvSpPr/>
          <p:nvPr/>
        </p:nvSpPr>
        <p:spPr>
          <a:xfrm>
            <a:off x="222504" y="4245831"/>
            <a:ext cx="3474720" cy="438912"/>
          </a:xfrm>
          <a:prstGeom prst="rect">
            <a:avLst/>
          </a:prstGeom>
          <a:solidFill>
            <a:srgbClr val="F8FAFC"/>
          </a:solidFill>
          <a:ln w="6350">
            <a:solidFill>
              <a:srgbClr val="E2E8F0"/>
            </a:solidFill>
            <a:prstDash val="solid"/>
          </a:ln>
        </p:spPr>
      </p:sp>
      <p:sp>
        <p:nvSpPr>
          <p:cNvPr id="52" name="ZoneTexte 51"/>
          <p:cNvSpPr txBox="1"/>
          <p:nvPr/>
        </p:nvSpPr>
        <p:spPr>
          <a:xfrm>
            <a:off x="578358" y="4332473"/>
            <a:ext cx="2718435" cy="415498"/>
          </a:xfrm>
          <a:prstGeom prst="rect">
            <a:avLst/>
          </a:prstGeom>
          <a:noFill/>
        </p:spPr>
        <p:txBody>
          <a:bodyPr wrap="square" rtlCol="0">
            <a:spAutoFit/>
          </a:bodyPr>
          <a:lstStyle/>
          <a:p>
            <a:r>
              <a:rPr lang="en-US" sz="1050" b="1" dirty="0"/>
              <a:t>Activation / </a:t>
            </a:r>
            <a:r>
              <a:rPr lang="en-US" sz="1050" b="1" dirty="0" err="1"/>
              <a:t>désactivation</a:t>
            </a:r>
            <a:endParaRPr lang="en-US" sz="1050" b="1" dirty="0"/>
          </a:p>
          <a:p>
            <a:endParaRPr lang="fr-FR" sz="1050" b="1" dirty="0"/>
          </a:p>
        </p:txBody>
      </p:sp>
      <p:sp>
        <p:nvSpPr>
          <p:cNvPr id="53" name="Shape 37"/>
          <p:cNvSpPr/>
          <p:nvPr/>
        </p:nvSpPr>
        <p:spPr>
          <a:xfrm>
            <a:off x="218313" y="4726514"/>
            <a:ext cx="3474720" cy="408950"/>
          </a:xfrm>
          <a:prstGeom prst="rect">
            <a:avLst/>
          </a:prstGeom>
          <a:solidFill>
            <a:srgbClr val="F8FAFC"/>
          </a:solidFill>
          <a:ln w="6350">
            <a:solidFill>
              <a:srgbClr val="E2E8F0"/>
            </a:solidFill>
            <a:prstDash val="solid"/>
          </a:ln>
        </p:spPr>
      </p:sp>
      <p:sp>
        <p:nvSpPr>
          <p:cNvPr id="54" name="ZoneTexte 53"/>
          <p:cNvSpPr txBox="1"/>
          <p:nvPr/>
        </p:nvSpPr>
        <p:spPr>
          <a:xfrm>
            <a:off x="563880" y="4849715"/>
            <a:ext cx="2664333" cy="415498"/>
          </a:xfrm>
          <a:prstGeom prst="rect">
            <a:avLst/>
          </a:prstGeom>
          <a:noFill/>
        </p:spPr>
        <p:txBody>
          <a:bodyPr wrap="square" rtlCol="0">
            <a:spAutoFit/>
          </a:bodyPr>
          <a:lstStyle/>
          <a:p>
            <a:r>
              <a:rPr lang="fr-FR" sz="1050" b="1" dirty="0"/>
              <a:t>Tâche non complétée après échéance</a:t>
            </a:r>
            <a:endParaRPr lang="en-US" sz="1050" b="1" dirty="0"/>
          </a:p>
          <a:p>
            <a:endParaRPr lang="fr-FR" sz="1050" dirty="0"/>
          </a:p>
        </p:txBody>
      </p:sp>
      <p:sp>
        <p:nvSpPr>
          <p:cNvPr id="55" name="Shape 10"/>
          <p:cNvSpPr/>
          <p:nvPr/>
        </p:nvSpPr>
        <p:spPr>
          <a:xfrm>
            <a:off x="368046" y="3447877"/>
            <a:ext cx="128016" cy="128016"/>
          </a:xfrm>
          <a:prstGeom prst="ellipse">
            <a:avLst/>
          </a:prstGeom>
          <a:solidFill>
            <a:srgbClr val="059669"/>
          </a:solidFill>
          <a:ln/>
        </p:spPr>
      </p:sp>
      <p:sp>
        <p:nvSpPr>
          <p:cNvPr id="56" name="Shape 17"/>
          <p:cNvSpPr/>
          <p:nvPr/>
        </p:nvSpPr>
        <p:spPr>
          <a:xfrm>
            <a:off x="379476" y="3908194"/>
            <a:ext cx="128016" cy="128016"/>
          </a:xfrm>
          <a:prstGeom prst="ellipse">
            <a:avLst/>
          </a:prstGeom>
          <a:solidFill>
            <a:srgbClr val="3B82F6"/>
          </a:solidFill>
          <a:ln/>
        </p:spPr>
      </p:sp>
      <p:sp>
        <p:nvSpPr>
          <p:cNvPr id="57" name="Shape 24"/>
          <p:cNvSpPr/>
          <p:nvPr/>
        </p:nvSpPr>
        <p:spPr>
          <a:xfrm>
            <a:off x="384048" y="4412206"/>
            <a:ext cx="128016" cy="128016"/>
          </a:xfrm>
          <a:prstGeom prst="ellipse">
            <a:avLst/>
          </a:prstGeom>
          <a:solidFill>
            <a:srgbClr val="8B5CF6"/>
          </a:solidFill>
          <a:ln/>
        </p:spPr>
      </p:sp>
      <p:sp>
        <p:nvSpPr>
          <p:cNvPr id="58" name="Shape 31"/>
          <p:cNvSpPr/>
          <p:nvPr/>
        </p:nvSpPr>
        <p:spPr>
          <a:xfrm>
            <a:off x="386334" y="4874999"/>
            <a:ext cx="128016" cy="128016"/>
          </a:xfrm>
          <a:prstGeom prst="ellipse">
            <a:avLst/>
          </a:prstGeom>
          <a:solidFill>
            <a:srgbClr val="F43F5E"/>
          </a:solidFill>
          <a:ln/>
        </p:spPr>
      </p:sp>
      <p:sp>
        <p:nvSpPr>
          <p:cNvPr id="59" name="Shape 42"/>
          <p:cNvSpPr/>
          <p:nvPr/>
        </p:nvSpPr>
        <p:spPr>
          <a:xfrm>
            <a:off x="5164074" y="3250675"/>
            <a:ext cx="3474720" cy="438912"/>
          </a:xfrm>
          <a:prstGeom prst="rect">
            <a:avLst/>
          </a:prstGeom>
          <a:solidFill>
            <a:srgbClr val="F8FAFC"/>
          </a:solidFill>
          <a:ln w="10160">
            <a:solidFill>
              <a:srgbClr val="F59E0B"/>
            </a:solidFill>
            <a:prstDash val="solid"/>
          </a:ln>
        </p:spPr>
        <p:txBody>
          <a:bodyPr/>
          <a:lstStyle/>
          <a:p>
            <a:r>
              <a:rPr lang="fr-FR" sz="1050" b="1" dirty="0" smtClean="0"/>
              <a:t>Email Rôle modifié</a:t>
            </a:r>
            <a:endParaRPr lang="fr-FR" sz="1050" b="1" dirty="0"/>
          </a:p>
        </p:txBody>
      </p:sp>
      <p:sp>
        <p:nvSpPr>
          <p:cNvPr id="60" name="Text 43"/>
          <p:cNvSpPr/>
          <p:nvPr/>
        </p:nvSpPr>
        <p:spPr>
          <a:xfrm>
            <a:off x="5410962" y="2910719"/>
            <a:ext cx="3291840" cy="438912"/>
          </a:xfrm>
          <a:prstGeom prst="rect">
            <a:avLst/>
          </a:prstGeom>
          <a:noFill/>
          <a:ln/>
        </p:spPr>
        <p:txBody>
          <a:bodyPr wrap="square" rtlCol="0" anchor="ctr"/>
          <a:lstStyle/>
          <a:p>
            <a:pPr marL="0" indent="0">
              <a:buNone/>
            </a:pPr>
            <a:endParaRPr lang="en-US" sz="1050" dirty="0"/>
          </a:p>
        </p:txBody>
      </p:sp>
      <p:sp>
        <p:nvSpPr>
          <p:cNvPr id="62" name="Text 43"/>
          <p:cNvSpPr/>
          <p:nvPr/>
        </p:nvSpPr>
        <p:spPr>
          <a:xfrm>
            <a:off x="5563362" y="3063119"/>
            <a:ext cx="3291840" cy="438912"/>
          </a:xfrm>
          <a:prstGeom prst="rect">
            <a:avLst/>
          </a:prstGeom>
          <a:noFill/>
          <a:ln/>
        </p:spPr>
        <p:txBody>
          <a:bodyPr wrap="square" rtlCol="0" anchor="ctr"/>
          <a:lstStyle/>
          <a:p>
            <a:pPr marL="0" indent="0">
              <a:buNone/>
            </a:pPr>
            <a:endParaRPr lang="en-US" sz="1050" dirty="0"/>
          </a:p>
        </p:txBody>
      </p:sp>
      <p:sp>
        <p:nvSpPr>
          <p:cNvPr id="63" name="Shape 42"/>
          <p:cNvSpPr/>
          <p:nvPr/>
        </p:nvSpPr>
        <p:spPr>
          <a:xfrm>
            <a:off x="5167122" y="4215454"/>
            <a:ext cx="3474720" cy="438912"/>
          </a:xfrm>
          <a:prstGeom prst="rect">
            <a:avLst/>
          </a:prstGeom>
          <a:solidFill>
            <a:srgbClr val="F8FAFC"/>
          </a:solidFill>
          <a:ln w="10160">
            <a:solidFill>
              <a:srgbClr val="F59E0B"/>
            </a:solidFill>
            <a:prstDash val="solid"/>
          </a:ln>
        </p:spPr>
        <p:txBody>
          <a:bodyPr/>
          <a:lstStyle/>
          <a:p>
            <a:r>
              <a:rPr lang="fr-FR" sz="1050" b="1" dirty="0" smtClean="0"/>
              <a:t>Statut Compte désactivé/Activé</a:t>
            </a:r>
            <a:endParaRPr lang="fr-FR" sz="1050" b="1" dirty="0"/>
          </a:p>
        </p:txBody>
      </p:sp>
      <p:sp>
        <p:nvSpPr>
          <p:cNvPr id="64" name="Text 43"/>
          <p:cNvSpPr/>
          <p:nvPr/>
        </p:nvSpPr>
        <p:spPr>
          <a:xfrm>
            <a:off x="5715762" y="3215519"/>
            <a:ext cx="3291840" cy="438912"/>
          </a:xfrm>
          <a:prstGeom prst="rect">
            <a:avLst/>
          </a:prstGeom>
          <a:noFill/>
          <a:ln/>
        </p:spPr>
        <p:txBody>
          <a:bodyPr wrap="square" rtlCol="0" anchor="ctr"/>
          <a:lstStyle/>
          <a:p>
            <a:pPr marL="0" indent="0">
              <a:buNone/>
            </a:pPr>
            <a:endParaRPr lang="en-US" sz="1050" dirty="0"/>
          </a:p>
        </p:txBody>
      </p:sp>
      <p:sp>
        <p:nvSpPr>
          <p:cNvPr id="65" name="Shape 42"/>
          <p:cNvSpPr/>
          <p:nvPr/>
        </p:nvSpPr>
        <p:spPr>
          <a:xfrm>
            <a:off x="5164074" y="4662090"/>
            <a:ext cx="3474720" cy="438912"/>
          </a:xfrm>
          <a:prstGeom prst="rect">
            <a:avLst/>
          </a:prstGeom>
          <a:solidFill>
            <a:srgbClr val="F8FAFC"/>
          </a:solidFill>
          <a:ln w="10160">
            <a:solidFill>
              <a:srgbClr val="F59E0B"/>
            </a:solidFill>
            <a:prstDash val="solid"/>
          </a:ln>
        </p:spPr>
        <p:txBody>
          <a:bodyPr/>
          <a:lstStyle/>
          <a:p>
            <a:r>
              <a:rPr lang="fr-FR" sz="1050" b="1" dirty="0" smtClean="0"/>
              <a:t>Rappel automatique</a:t>
            </a:r>
            <a:endParaRPr lang="fr-FR" sz="1050" b="1" dirty="0"/>
          </a:p>
        </p:txBody>
      </p:sp>
      <p:sp>
        <p:nvSpPr>
          <p:cNvPr id="66" name="Text 43"/>
          <p:cNvSpPr/>
          <p:nvPr/>
        </p:nvSpPr>
        <p:spPr>
          <a:xfrm>
            <a:off x="5258562" y="4625444"/>
            <a:ext cx="3291840" cy="438912"/>
          </a:xfrm>
          <a:prstGeom prst="rect">
            <a:avLst/>
          </a:prstGeom>
          <a:noFill/>
          <a:ln/>
        </p:spPr>
        <p:txBody>
          <a:bodyPr wrap="square" rtlCol="0" anchor="ctr"/>
          <a:lstStyle/>
          <a:p>
            <a:pPr marL="0" indent="0">
              <a:buNone/>
            </a:pPr>
            <a:endParaRPr lang="en-US" sz="1050" dirty="0"/>
          </a:p>
        </p:txBody>
      </p:sp>
      <p:sp>
        <p:nvSpPr>
          <p:cNvPr id="61" name="Shape 42"/>
          <p:cNvSpPr/>
          <p:nvPr/>
        </p:nvSpPr>
        <p:spPr>
          <a:xfrm>
            <a:off x="5164074" y="3732745"/>
            <a:ext cx="3474720" cy="438912"/>
          </a:xfrm>
          <a:prstGeom prst="rect">
            <a:avLst/>
          </a:prstGeom>
          <a:solidFill>
            <a:srgbClr val="F8FAFC"/>
          </a:solidFill>
          <a:ln w="10160">
            <a:solidFill>
              <a:srgbClr val="F59E0B"/>
            </a:solidFill>
            <a:prstDash val="solid"/>
          </a:ln>
        </p:spPr>
      </p:sp>
      <p:sp>
        <p:nvSpPr>
          <p:cNvPr id="67" name="ZoneTexte 66"/>
          <p:cNvSpPr txBox="1"/>
          <p:nvPr/>
        </p:nvSpPr>
        <p:spPr>
          <a:xfrm>
            <a:off x="5179314" y="3797323"/>
            <a:ext cx="2821686" cy="253916"/>
          </a:xfrm>
          <a:prstGeom prst="rect">
            <a:avLst/>
          </a:prstGeom>
          <a:noFill/>
        </p:spPr>
        <p:txBody>
          <a:bodyPr wrap="square" rtlCol="0">
            <a:spAutoFit/>
          </a:bodyPr>
          <a:lstStyle/>
          <a:p>
            <a:r>
              <a:rPr lang="fr-FR" sz="1050" b="1" dirty="0"/>
              <a:t>Email personnalisé (sujet + corps libres)</a:t>
            </a:r>
          </a:p>
        </p:txBody>
      </p:sp>
    </p:spTree>
    <p:extLst>
      <p:ext uri="{BB962C8B-B14F-4D97-AF65-F5344CB8AC3E}">
        <p14:creationId xmlns:p14="http://schemas.microsoft.com/office/powerpoint/2010/main" val="3556314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59669"/>
          </a:solidFill>
          <a:ln/>
        </p:spPr>
      </p:sp>
      <p:sp>
        <p:nvSpPr>
          <p:cNvPr id="3" name="Text 1"/>
          <p:cNvSpPr/>
          <p:nvPr/>
        </p:nvSpPr>
        <p:spPr>
          <a:xfrm>
            <a:off x="228600" y="137160"/>
            <a:ext cx="5486400" cy="274320"/>
          </a:xfrm>
          <a:prstGeom prst="rect">
            <a:avLst/>
          </a:prstGeom>
          <a:noFill/>
          <a:ln/>
        </p:spPr>
        <p:txBody>
          <a:bodyPr wrap="square" lIns="0" tIns="0" rIns="0" bIns="0" rtlCol="0" anchor="ctr"/>
          <a:lstStyle/>
          <a:p>
            <a:pPr marL="0" indent="0">
              <a:buNone/>
            </a:pPr>
            <a:endParaRPr lang="en-US" sz="800" dirty="0"/>
          </a:p>
        </p:txBody>
      </p:sp>
      <p:sp>
        <p:nvSpPr>
          <p:cNvPr id="5" name="Text 3"/>
          <p:cNvSpPr/>
          <p:nvPr/>
        </p:nvSpPr>
        <p:spPr>
          <a:xfrm>
            <a:off x="8412480" y="137160"/>
            <a:ext cx="594360" cy="594360"/>
          </a:xfrm>
          <a:prstGeom prst="rect">
            <a:avLst/>
          </a:prstGeom>
          <a:noFill/>
          <a:ln/>
        </p:spPr>
        <p:txBody>
          <a:bodyPr wrap="square" lIns="0" tIns="0" rIns="0" bIns="0" rtlCol="0" anchor="ctr"/>
          <a:lstStyle/>
          <a:p>
            <a:pPr marL="0" indent="0" algn="ctr">
              <a:buNone/>
            </a:pPr>
            <a:endParaRPr lang="en-US" sz="2200" dirty="0"/>
          </a:p>
        </p:txBody>
      </p:sp>
      <p:sp>
        <p:nvSpPr>
          <p:cNvPr id="4" name="Rectangle 3"/>
          <p:cNvSpPr/>
          <p:nvPr/>
        </p:nvSpPr>
        <p:spPr>
          <a:xfrm>
            <a:off x="422767" y="308076"/>
            <a:ext cx="2424831" cy="523220"/>
          </a:xfrm>
          <a:prstGeom prst="rect">
            <a:avLst/>
          </a:prstGeom>
        </p:spPr>
        <p:txBody>
          <a:bodyPr wrap="none">
            <a:spAutoFit/>
          </a:bodyPr>
          <a:lstStyle/>
          <a:p>
            <a:r>
              <a:rPr lang="en-US" sz="2800" b="1" dirty="0" smtClean="0">
                <a:latin typeface="Calibri Bold" pitchFamily="34" charset="0"/>
                <a:ea typeface="Calibri Bold" pitchFamily="34" charset="-122"/>
                <a:cs typeface="Calibri Bold" pitchFamily="34" charset="-120"/>
              </a:rPr>
              <a:t>Demonstration</a:t>
            </a:r>
            <a:endParaRPr lang="en-US" sz="2800" dirty="0"/>
          </a:p>
        </p:txBody>
      </p:sp>
      <p:sp>
        <p:nvSpPr>
          <p:cNvPr id="46" name="Rectangle 45"/>
          <p:cNvSpPr/>
          <p:nvPr/>
        </p:nvSpPr>
        <p:spPr>
          <a:xfrm>
            <a:off x="682826" y="871407"/>
            <a:ext cx="2866490" cy="261610"/>
          </a:xfrm>
          <a:prstGeom prst="rect">
            <a:avLst/>
          </a:prstGeom>
        </p:spPr>
        <p:txBody>
          <a:bodyPr wrap="none">
            <a:spAutoFit/>
          </a:bodyPr>
          <a:lstStyle/>
          <a:p>
            <a:r>
              <a:rPr lang="fr-FR" sz="1100" b="1" u="sng" dirty="0">
                <a:latin typeface="-apple-system"/>
              </a:rPr>
              <a:t>https://crm-orpin-six-19.vercel.app/login</a:t>
            </a:r>
            <a:endParaRPr lang="fr-FR" sz="1100" b="1" dirty="0"/>
          </a:p>
        </p:txBody>
      </p:sp>
    </p:spTree>
    <p:extLst>
      <p:ext uri="{BB962C8B-B14F-4D97-AF65-F5344CB8AC3E}">
        <p14:creationId xmlns:p14="http://schemas.microsoft.com/office/powerpoint/2010/main" val="2385116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34224" y="67112"/>
            <a:ext cx="3489820" cy="646331"/>
          </a:xfrm>
          <a:prstGeom prst="rect">
            <a:avLst/>
          </a:prstGeom>
          <a:noFill/>
        </p:spPr>
        <p:txBody>
          <a:bodyPr wrap="square" rtlCol="0">
            <a:spAutoFit/>
          </a:bodyPr>
          <a:lstStyle/>
          <a:p>
            <a:r>
              <a:rPr lang="fr-FR" dirty="0" smtClean="0"/>
              <a:t>Email de bienvenue</a:t>
            </a:r>
          </a:p>
          <a:p>
            <a:endParaRPr lang="fr-FR" dirty="0"/>
          </a:p>
        </p:txBody>
      </p:sp>
      <p:pic>
        <p:nvPicPr>
          <p:cNvPr id="3" name="Image 2"/>
          <p:cNvPicPr>
            <a:picLocks noChangeAspect="1"/>
          </p:cNvPicPr>
          <p:nvPr/>
        </p:nvPicPr>
        <p:blipFill>
          <a:blip r:embed="rId2"/>
          <a:stretch>
            <a:fillRect/>
          </a:stretch>
        </p:blipFill>
        <p:spPr>
          <a:xfrm>
            <a:off x="444196" y="390277"/>
            <a:ext cx="1959467" cy="4265506"/>
          </a:xfrm>
          <a:prstGeom prst="rect">
            <a:avLst/>
          </a:prstGeom>
        </p:spPr>
      </p:pic>
      <p:sp>
        <p:nvSpPr>
          <p:cNvPr id="4" name="ZoneTexte 3"/>
          <p:cNvSpPr txBox="1"/>
          <p:nvPr/>
        </p:nvSpPr>
        <p:spPr>
          <a:xfrm>
            <a:off x="3036814" y="67112"/>
            <a:ext cx="2617365" cy="646331"/>
          </a:xfrm>
          <a:prstGeom prst="rect">
            <a:avLst/>
          </a:prstGeom>
          <a:noFill/>
        </p:spPr>
        <p:txBody>
          <a:bodyPr wrap="square" rtlCol="0">
            <a:spAutoFit/>
          </a:bodyPr>
          <a:lstStyle/>
          <a:p>
            <a:r>
              <a:rPr lang="fr-FR" dirty="0" smtClean="0"/>
              <a:t>Email de réinitialisation</a:t>
            </a:r>
          </a:p>
          <a:p>
            <a:endParaRPr lang="fr-FR" dirty="0"/>
          </a:p>
        </p:txBody>
      </p:sp>
      <p:pic>
        <p:nvPicPr>
          <p:cNvPr id="5" name="Image 4"/>
          <p:cNvPicPr>
            <a:picLocks noChangeAspect="1"/>
          </p:cNvPicPr>
          <p:nvPr/>
        </p:nvPicPr>
        <p:blipFill>
          <a:blip r:embed="rId3"/>
          <a:stretch>
            <a:fillRect/>
          </a:stretch>
        </p:blipFill>
        <p:spPr>
          <a:xfrm>
            <a:off x="3118085" y="713442"/>
            <a:ext cx="1631862" cy="3552353"/>
          </a:xfrm>
          <a:prstGeom prst="rect">
            <a:avLst/>
          </a:prstGeom>
        </p:spPr>
      </p:pic>
      <p:sp>
        <p:nvSpPr>
          <p:cNvPr id="6" name="ZoneTexte 5"/>
          <p:cNvSpPr txBox="1"/>
          <p:nvPr/>
        </p:nvSpPr>
        <p:spPr>
          <a:xfrm>
            <a:off x="5654179" y="238125"/>
            <a:ext cx="2337296" cy="923330"/>
          </a:xfrm>
          <a:prstGeom prst="rect">
            <a:avLst/>
          </a:prstGeom>
          <a:noFill/>
        </p:spPr>
        <p:txBody>
          <a:bodyPr wrap="square" rtlCol="0">
            <a:spAutoFit/>
          </a:bodyPr>
          <a:lstStyle/>
          <a:p>
            <a:r>
              <a:rPr lang="fr-FR" dirty="0" smtClean="0"/>
              <a:t>Deal passé au statut gagné</a:t>
            </a:r>
          </a:p>
          <a:p>
            <a:endParaRPr lang="fr-FR" dirty="0"/>
          </a:p>
        </p:txBody>
      </p:sp>
      <p:pic>
        <p:nvPicPr>
          <p:cNvPr id="7" name="Image 6"/>
          <p:cNvPicPr>
            <a:picLocks noChangeAspect="1"/>
          </p:cNvPicPr>
          <p:nvPr/>
        </p:nvPicPr>
        <p:blipFill>
          <a:blip r:embed="rId4"/>
          <a:stretch>
            <a:fillRect/>
          </a:stretch>
        </p:blipFill>
        <p:spPr>
          <a:xfrm>
            <a:off x="5742426" y="801770"/>
            <a:ext cx="1770437" cy="3854013"/>
          </a:xfrm>
          <a:prstGeom prst="rect">
            <a:avLst/>
          </a:prstGeom>
        </p:spPr>
      </p:pic>
    </p:spTree>
    <p:extLst>
      <p:ext uri="{BB962C8B-B14F-4D97-AF65-F5344CB8AC3E}">
        <p14:creationId xmlns:p14="http://schemas.microsoft.com/office/powerpoint/2010/main" val="691953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57175" y="257175"/>
            <a:ext cx="4533900" cy="646331"/>
          </a:xfrm>
          <a:prstGeom prst="rect">
            <a:avLst/>
          </a:prstGeom>
          <a:noFill/>
        </p:spPr>
        <p:txBody>
          <a:bodyPr wrap="square" rtlCol="0">
            <a:spAutoFit/>
          </a:bodyPr>
          <a:lstStyle/>
          <a:p>
            <a:r>
              <a:rPr lang="fr-FR" dirty="0" smtClean="0"/>
              <a:t>Lead assigné a un commercial</a:t>
            </a:r>
          </a:p>
          <a:p>
            <a:endParaRPr lang="fr-FR" dirty="0"/>
          </a:p>
        </p:txBody>
      </p:sp>
      <p:pic>
        <p:nvPicPr>
          <p:cNvPr id="3" name="Image 2"/>
          <p:cNvPicPr>
            <a:picLocks noChangeAspect="1"/>
          </p:cNvPicPr>
          <p:nvPr/>
        </p:nvPicPr>
        <p:blipFill>
          <a:blip r:embed="rId2"/>
          <a:stretch>
            <a:fillRect/>
          </a:stretch>
        </p:blipFill>
        <p:spPr>
          <a:xfrm>
            <a:off x="447675" y="580340"/>
            <a:ext cx="1955870" cy="4257675"/>
          </a:xfrm>
          <a:prstGeom prst="rect">
            <a:avLst/>
          </a:prstGeom>
        </p:spPr>
      </p:pic>
      <p:sp>
        <p:nvSpPr>
          <p:cNvPr id="4" name="ZoneTexte 3"/>
          <p:cNvSpPr txBox="1"/>
          <p:nvPr/>
        </p:nvSpPr>
        <p:spPr>
          <a:xfrm>
            <a:off x="3419475" y="211008"/>
            <a:ext cx="3124200" cy="369332"/>
          </a:xfrm>
          <a:prstGeom prst="rect">
            <a:avLst/>
          </a:prstGeom>
          <a:noFill/>
        </p:spPr>
        <p:txBody>
          <a:bodyPr wrap="square" rtlCol="0">
            <a:spAutoFit/>
          </a:bodyPr>
          <a:lstStyle/>
          <a:p>
            <a:r>
              <a:rPr lang="fr-FR" dirty="0" smtClean="0"/>
              <a:t>Nouvelle tache assignée</a:t>
            </a:r>
            <a:endParaRPr lang="fr-FR" dirty="0"/>
          </a:p>
        </p:txBody>
      </p:sp>
      <p:pic>
        <p:nvPicPr>
          <p:cNvPr id="5" name="Image 4"/>
          <p:cNvPicPr>
            <a:picLocks noChangeAspect="1"/>
          </p:cNvPicPr>
          <p:nvPr/>
        </p:nvPicPr>
        <p:blipFill>
          <a:blip r:embed="rId3"/>
          <a:stretch>
            <a:fillRect/>
          </a:stretch>
        </p:blipFill>
        <p:spPr>
          <a:xfrm>
            <a:off x="3366187" y="626507"/>
            <a:ext cx="2301188" cy="4211508"/>
          </a:xfrm>
          <a:prstGeom prst="rect">
            <a:avLst/>
          </a:prstGeom>
        </p:spPr>
      </p:pic>
      <p:sp>
        <p:nvSpPr>
          <p:cNvPr id="6" name="ZoneTexte 5"/>
          <p:cNvSpPr txBox="1"/>
          <p:nvPr/>
        </p:nvSpPr>
        <p:spPr>
          <a:xfrm>
            <a:off x="6221342" y="211008"/>
            <a:ext cx="2676525" cy="369332"/>
          </a:xfrm>
          <a:prstGeom prst="rect">
            <a:avLst/>
          </a:prstGeom>
          <a:noFill/>
        </p:spPr>
        <p:txBody>
          <a:bodyPr wrap="square" rtlCol="0">
            <a:spAutoFit/>
          </a:bodyPr>
          <a:lstStyle/>
          <a:p>
            <a:r>
              <a:rPr lang="fr-FR" dirty="0" smtClean="0"/>
              <a:t>Changement de rôle</a:t>
            </a:r>
            <a:endParaRPr lang="fr-FR" dirty="0"/>
          </a:p>
        </p:txBody>
      </p:sp>
      <p:pic>
        <p:nvPicPr>
          <p:cNvPr id="7" name="Image 6"/>
          <p:cNvPicPr>
            <a:picLocks noChangeAspect="1"/>
          </p:cNvPicPr>
          <p:nvPr/>
        </p:nvPicPr>
        <p:blipFill>
          <a:blip r:embed="rId4"/>
          <a:stretch>
            <a:fillRect/>
          </a:stretch>
        </p:blipFill>
        <p:spPr>
          <a:xfrm>
            <a:off x="6080775" y="580340"/>
            <a:ext cx="2417659" cy="4257675"/>
          </a:xfrm>
          <a:prstGeom prst="rect">
            <a:avLst/>
          </a:prstGeom>
        </p:spPr>
      </p:pic>
    </p:spTree>
    <p:extLst>
      <p:ext uri="{BB962C8B-B14F-4D97-AF65-F5344CB8AC3E}">
        <p14:creationId xmlns:p14="http://schemas.microsoft.com/office/powerpoint/2010/main" val="134418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14300" y="0"/>
            <a:ext cx="3019425" cy="369332"/>
          </a:xfrm>
          <a:prstGeom prst="rect">
            <a:avLst/>
          </a:prstGeom>
          <a:noFill/>
        </p:spPr>
        <p:txBody>
          <a:bodyPr wrap="square" rtlCol="0">
            <a:spAutoFit/>
          </a:bodyPr>
          <a:lstStyle/>
          <a:p>
            <a:r>
              <a:rPr lang="fr-FR" dirty="0" smtClean="0"/>
              <a:t>Envoie de mails manuel</a:t>
            </a:r>
            <a:endParaRPr lang="fr-FR" dirty="0"/>
          </a:p>
        </p:txBody>
      </p:sp>
      <p:pic>
        <p:nvPicPr>
          <p:cNvPr id="3" name="Image 2"/>
          <p:cNvPicPr>
            <a:picLocks noChangeAspect="1"/>
          </p:cNvPicPr>
          <p:nvPr/>
        </p:nvPicPr>
        <p:blipFill>
          <a:blip r:embed="rId2"/>
          <a:stretch>
            <a:fillRect/>
          </a:stretch>
        </p:blipFill>
        <p:spPr>
          <a:xfrm>
            <a:off x="343250" y="369332"/>
            <a:ext cx="2117415" cy="4609338"/>
          </a:xfrm>
          <a:prstGeom prst="rect">
            <a:avLst/>
          </a:prstGeom>
        </p:spPr>
      </p:pic>
      <p:sp>
        <p:nvSpPr>
          <p:cNvPr id="4" name="ZoneTexte 3"/>
          <p:cNvSpPr txBox="1"/>
          <p:nvPr/>
        </p:nvSpPr>
        <p:spPr>
          <a:xfrm>
            <a:off x="2793534" y="100668"/>
            <a:ext cx="3556932" cy="646331"/>
          </a:xfrm>
          <a:prstGeom prst="rect">
            <a:avLst/>
          </a:prstGeom>
          <a:noFill/>
        </p:spPr>
        <p:txBody>
          <a:bodyPr wrap="square" rtlCol="0">
            <a:spAutoFit/>
          </a:bodyPr>
          <a:lstStyle/>
          <a:p>
            <a:r>
              <a:rPr lang="fr-FR" dirty="0" smtClean="0"/>
              <a:t>Activation et désactivation du compte par l’</a:t>
            </a:r>
            <a:r>
              <a:rPr lang="fr-FR" dirty="0" err="1" smtClean="0"/>
              <a:t>admin</a:t>
            </a:r>
            <a:endParaRPr lang="fr-FR" dirty="0"/>
          </a:p>
        </p:txBody>
      </p:sp>
      <p:pic>
        <p:nvPicPr>
          <p:cNvPr id="5" name="Image 4"/>
          <p:cNvPicPr>
            <a:picLocks noChangeAspect="1"/>
          </p:cNvPicPr>
          <p:nvPr/>
        </p:nvPicPr>
        <p:blipFill>
          <a:blip r:embed="rId3"/>
          <a:stretch>
            <a:fillRect/>
          </a:stretch>
        </p:blipFill>
        <p:spPr>
          <a:xfrm>
            <a:off x="2784009" y="847667"/>
            <a:ext cx="2628550" cy="4131003"/>
          </a:xfrm>
          <a:prstGeom prst="rect">
            <a:avLst/>
          </a:prstGeom>
        </p:spPr>
      </p:pic>
      <p:pic>
        <p:nvPicPr>
          <p:cNvPr id="6" name="Image 5"/>
          <p:cNvPicPr>
            <a:picLocks noChangeAspect="1"/>
          </p:cNvPicPr>
          <p:nvPr/>
        </p:nvPicPr>
        <p:blipFill>
          <a:blip r:embed="rId4"/>
          <a:stretch>
            <a:fillRect/>
          </a:stretch>
        </p:blipFill>
        <p:spPr>
          <a:xfrm>
            <a:off x="5895618" y="423833"/>
            <a:ext cx="2196175" cy="4233892"/>
          </a:xfrm>
          <a:prstGeom prst="rect">
            <a:avLst/>
          </a:prstGeom>
        </p:spPr>
      </p:pic>
    </p:spTree>
    <p:extLst>
      <p:ext uri="{BB962C8B-B14F-4D97-AF65-F5344CB8AC3E}">
        <p14:creationId xmlns:p14="http://schemas.microsoft.com/office/powerpoint/2010/main" val="207847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85133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432</TotalTime>
  <Words>480</Words>
  <Application>Microsoft Office PowerPoint</Application>
  <PresentationFormat>Affichage à l'écran (16:9)</PresentationFormat>
  <Paragraphs>140</Paragraphs>
  <Slides>11</Slides>
  <Notes>7</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11</vt:i4>
      </vt:variant>
    </vt:vector>
  </HeadingPairs>
  <TitlesOfParts>
    <vt:vector size="16" baseType="lpstr">
      <vt:lpstr>-apple-system</vt:lpstr>
      <vt:lpstr>Arial</vt:lpstr>
      <vt:lpstr>Calibri</vt:lpstr>
      <vt:lpstr>Calibri 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FormaPro CRM — Présentation Projet</dc:title>
  <dc:subject>PptxGenJS Presentation</dc:subject>
  <dc:creator>PptxGenJS</dc:creator>
  <cp:lastModifiedBy>Compte Microsoft</cp:lastModifiedBy>
  <cp:revision>20</cp:revision>
  <dcterms:created xsi:type="dcterms:W3CDTF">2026-03-09T00:18:59Z</dcterms:created>
  <dcterms:modified xsi:type="dcterms:W3CDTF">2026-03-11T10:08:51Z</dcterms:modified>
</cp:coreProperties>
</file>